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0" r:id="rId1"/>
  </p:sldMasterIdLst>
  <p:notesMasterIdLst>
    <p:notesMasterId r:id="rId11"/>
  </p:notesMasterIdLst>
  <p:sldIdLst>
    <p:sldId id="256" r:id="rId2"/>
    <p:sldId id="257" r:id="rId3"/>
    <p:sldId id="258" r:id="rId4"/>
    <p:sldId id="259" r:id="rId5"/>
    <p:sldId id="263" r:id="rId6"/>
    <p:sldId id="260" r:id="rId7"/>
    <p:sldId id="261" r:id="rId8"/>
    <p:sldId id="264"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52" autoAdjust="0"/>
    <p:restoredTop sz="94632"/>
  </p:normalViewPr>
  <p:slideViewPr>
    <p:cSldViewPr snapToGrid="0">
      <p:cViewPr varScale="1">
        <p:scale>
          <a:sx n="78" d="100"/>
          <a:sy n="78" d="100"/>
        </p:scale>
        <p:origin x="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29-07-2026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IN"/>
              <a:t>SCOPE</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2ABAD28B-DD56-4B56-883A-96608C765E28}" type="datetimeFigureOut">
              <a:rPr lang="en-US" smtClean="0"/>
              <a:pPr/>
              <a:t>7/29/2026</a:t>
            </a:fld>
            <a:endParaRPr lang="en-US" dirty="0"/>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806509154"/>
      </p:ext>
    </p:extLst>
  </p:cSld>
  <p:clrMapOvr>
    <a:masterClrMapping/>
  </p:clrMapOvr>
  <p:hf hd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IN"/>
              <a:t>SCOPE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3827C3E-786B-4150-9177-1C28966A2ADC}" type="datetime1">
              <a:rPr lang="en-IN" smtClean="0"/>
              <a:t>29-07-2026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73201054"/>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IN"/>
              <a:t>SCOPE</a:t>
            </a: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43827C3E-786B-4150-9177-1C28966A2ADC}" type="datetime1">
              <a:rPr lang="en-IN" smtClean="0"/>
              <a:t>29-07-2026</a:t>
            </a:fld>
            <a:endParaRPr lang="en-IN"/>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177624954"/>
      </p:ext>
    </p:extLst>
  </p:cSld>
  <p:clrMapOvr>
    <a:masterClrMapping/>
  </p:clrMapOvr>
  <p:hf hd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IN"/>
              <a:t>SCOPE</a:t>
            </a: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43827C3E-786B-4150-9177-1C28966A2ADC}" type="datetime1">
              <a:rPr lang="en-IN" smtClean="0"/>
              <a:t>29-07-2026</a:t>
            </a:fld>
            <a:endParaRPr lang="en-IN"/>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846869427"/>
      </p:ext>
    </p:extLst>
  </p:cSld>
  <p:clrMapOvr>
    <a:masterClrMapping/>
  </p:clrMapOvr>
  <p:hf hd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2ABAD28B-DD56-4B56-883A-96608C765E28}" type="datetimeFigureOut">
              <a:rPr lang="en-US" smtClean="0"/>
              <a:pPr/>
              <a:t>7/29/2026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7DF5BAF5-ABAB-4575-8E56-D109A3D17F9F}" type="slidenum">
              <a:rPr lang="en-US" smtClean="0"/>
              <a:pPr/>
              <a:t>‹#›</a:t>
            </a:fld>
            <a:endParaRPr lang="en-US" dirty="0"/>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0474801"/>
      </p:ext>
    </p:extLst>
  </p:cSld>
  <p:clrMapOvr>
    <a:masterClrMapping/>
  </p:clrMapOvr>
  <p:hf hd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A60B404-9532-4DA8-8A40-EC339A5BE635}" type="datetime1">
              <a:rPr lang="en-US" smtClean="0"/>
              <a:t>7/29/2026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211491863"/>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IN"/>
              <a:t>SCOPE</a:t>
            </a:r>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43827C3E-786B-4150-9177-1C28966A2ADC}" type="datetime1">
              <a:rPr lang="en-IN" smtClean="0"/>
              <a:t>29-07-2026</a:t>
            </a:fld>
            <a:endParaRPr lang="en-IN"/>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65201FD4-9D8D-4491-815B-63C7BF4F0034}" type="slidenum">
              <a:rPr lang="en-IN" smtClean="0"/>
              <a:t>‹#›</a:t>
            </a:fld>
            <a:endParaRPr lang="en-IN"/>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5053101"/>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IN"/>
              <a:t>SCOPE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3827C3E-786B-4150-9177-1C28966A2ADC}" type="datetime1">
              <a:rPr lang="en-IN" smtClean="0"/>
              <a:t>29-07-2026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65201FD4-9D8D-4491-815B-63C7BF4F0034}" type="slidenum">
              <a:rPr lang="en-IN" smtClean="0"/>
              <a:t>‹#›</a:t>
            </a:fld>
            <a:endParaRPr lang="en-IN"/>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1267367"/>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IN"/>
              <a:t>SCOPE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3827C3E-786B-4150-9177-1C28966A2ADC}" type="datetime1">
              <a:rPr lang="en-IN" smtClean="0"/>
              <a:t>29-07-2026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65201FD4-9D8D-4491-815B-63C7BF4F0034}" type="slidenum">
              <a:rPr lang="en-IN" smtClean="0"/>
              <a:t>‹#›</a:t>
            </a:fld>
            <a:endParaRPr lang="en-IN"/>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8011381"/>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IN"/>
              <a:t>SCOPE</a:t>
            </a:r>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43827C3E-786B-4150-9177-1C28966A2ADC}" type="datetime1">
              <a:rPr lang="en-IN" smtClean="0"/>
              <a:t>29-07-2026</a:t>
            </a:fld>
            <a:endParaRPr lang="en-IN"/>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65201FD4-9D8D-4491-815B-63C7BF4F0034}" type="slidenum">
              <a:rPr lang="en-IN" smtClean="0"/>
              <a:t>‹#›</a:t>
            </a:fld>
            <a:endParaRPr lang="en-IN"/>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0537468"/>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43827C3E-786B-4150-9177-1C28966A2ADC}" type="datetime1">
              <a:rPr lang="en-IN" smtClean="0"/>
              <a:t>29-07-2026</a:t>
            </a:fld>
            <a:endParaRPr lang="en-IN"/>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IN"/>
              <a:t>SCOPE</a:t>
            </a:r>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587283803"/>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43827C3E-786B-4150-9177-1C28966A2ADC}" type="datetime1">
              <a:rPr lang="en-IN" smtClean="0"/>
              <a:t>29-07-2026</a:t>
            </a:fld>
            <a:endParaRPr lang="en-IN"/>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IN"/>
              <a:t>SCOPE</a:t>
            </a: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751854474"/>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43827C3E-786B-4150-9177-1C28966A2ADC}" type="datetime1">
              <a:rPr lang="en-IN" smtClean="0"/>
              <a:t>29-07-2026</a:t>
            </a:fld>
            <a:endParaRPr lang="en-IN"/>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IN"/>
              <a:t>SCOPE</a:t>
            </a: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99873163"/>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2ABAD28B-DD56-4B56-883A-96608C765E28}" type="datetimeFigureOut">
              <a:rPr lang="en-US" smtClean="0"/>
              <a:pPr/>
              <a:t>7/29/2026</a:t>
            </a:fld>
            <a:endParaRPr lang="en-US" dirty="0"/>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IN"/>
              <a:t>SCOPE</a:t>
            </a: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374545492"/>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43827C3E-786B-4150-9177-1C28966A2ADC}" type="datetime1">
              <a:rPr lang="en-IN" smtClean="0"/>
              <a:t>29-07-2026</a:t>
            </a:fld>
            <a:endParaRPr lang="en-IN"/>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IN"/>
              <a:t>SCOPE</a:t>
            </a: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93296484"/>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IN"/>
              <a:t>SCOPE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43827C3E-786B-4150-9177-1C28966A2ADC}" type="datetime1">
              <a:rPr lang="en-IN" smtClean="0"/>
              <a:t>29-07-2026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65201FD4-9D8D-4491-815B-63C7BF4F0034}" type="slidenum">
              <a:rPr lang="en-IN" smtClean="0"/>
              <a:t>‹#›</a:t>
            </a:fld>
            <a:endParaRPr lang="en-IN"/>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5133594"/>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IN"/>
              <a:t>SCOPE</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3827C3E-786B-4150-9177-1C28966A2ADC}" type="datetime1">
              <a:rPr lang="en-IN" smtClean="0"/>
              <a:t>29-07-2026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65201FD4-9D8D-4491-815B-63C7BF4F0034}" type="slidenum">
              <a:rPr lang="en-IN" smtClean="0"/>
              <a:t>‹#›</a:t>
            </a:fld>
            <a:endParaRPr lang="en-IN"/>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0386045"/>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IN"/>
              <a:t>SCOPE</a:t>
            </a: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43827C3E-786B-4150-9177-1C28966A2ADC}" type="datetime1">
              <a:rPr lang="en-IN" smtClean="0"/>
              <a:t>29-07-2026</a:t>
            </a:fld>
            <a:endParaRPr lang="en-IN"/>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65201FD4-9D8D-4491-815B-63C7BF4F0034}" type="slidenum">
              <a:rPr lang="en-IN" smtClean="0"/>
              <a:t>‹#›</a:t>
            </a:fld>
            <a:endParaRPr lang="en-IN"/>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3667932271"/>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5AD3D17-73C9-402C-91E7-BA73E6829C50}" type="datetime1">
              <a:rPr lang="en-US" smtClean="0"/>
              <a:pPr/>
              <a:t>7/29/2026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65201FD4-9D8D-4491-815B-63C7BF4F0034}" type="slidenum">
              <a:rPr lang="en-IN" smtClean="0"/>
              <a:t>‹#›</a:t>
            </a:fld>
            <a:endParaRPr lang="en-IN"/>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8873590"/>
      </p:ext>
    </p:extLst>
  </p:cSld>
  <p:clrMapOvr>
    <a:masterClrMapping/>
  </p:clrMapOvr>
  <p:hf hd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IN"/>
              <a:t>SCOPE</a:t>
            </a: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43827C3E-786B-4150-9177-1C28966A2ADC}" type="datetime1">
              <a:rPr lang="en-IN" smtClean="0"/>
              <a:t>29-07-2026</a:t>
            </a:fld>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65201FD4-9D8D-4491-815B-63C7BF4F0034}" type="slidenum">
              <a:rPr lang="en-IN" smtClean="0"/>
              <a:t>‹#›</a:t>
            </a:fld>
            <a:endParaRPr lang="en-IN"/>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2456817371"/>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IN"/>
              <a:t>SCOPE</a:t>
            </a: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t>7/29/2026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2307385880"/>
      </p:ext>
    </p:extLst>
  </p:cSld>
  <p:clrMapOvr>
    <a:masterClrMapping/>
  </p:clrMapOvr>
  <p:hf hd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IN"/>
              <a:t>SCOPE</a:t>
            </a: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3827C3E-786B-4150-9177-1C28966A2ADC}" type="datetime1">
              <a:rPr lang="en-IN" smtClean="0"/>
              <a:t>29-07-2026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86866428"/>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IN"/>
              <a:t>SCOPE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43827C3E-786B-4150-9177-1C28966A2ADC}" type="datetime1">
              <a:rPr lang="en-IN" smtClean="0"/>
              <a:t>29-07-2026</a:t>
            </a:fld>
            <a:endParaRPr lang="en-IN"/>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3114152927"/>
      </p:ext>
    </p:extLst>
  </p:cSld>
  <p:clrMapOvr>
    <a:masterClrMapping/>
  </p:clrMapOvr>
  <p:hf hd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IN"/>
              <a:t>SCOPE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43827C3E-786B-4150-9177-1C28966A2ADC}" type="datetime1">
              <a:rPr lang="en-IN" smtClean="0"/>
              <a:t>29-07-2026</a:t>
            </a:fld>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225628613"/>
      </p:ext>
    </p:extLst>
  </p:cSld>
  <p:clrMapOvr>
    <a:masterClrMapping/>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IN"/>
              <a:t>SCOPE</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43827C3E-786B-4150-9177-1C28966A2ADC}" type="datetime1">
              <a:rPr lang="en-IN" smtClean="0"/>
              <a:t>29-07-2026</a:t>
            </a:fld>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948901288"/>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IN"/>
              <a:t>SCOPE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43827C3E-786B-4150-9177-1C28966A2ADC}" type="datetime1">
              <a:rPr lang="en-IN" smtClean="0"/>
              <a:t>29-07-2026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4223820731"/>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IN"/>
              <a:t>SCOPE</a:t>
            </a: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3827C3E-786B-4150-9177-1C28966A2ADC}" type="datetime1">
              <a:rPr lang="en-IN" smtClean="0"/>
              <a:t>29-07-2026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850174492"/>
      </p:ext>
    </p:extLst>
  </p:cSld>
  <p:clrMapOvr>
    <a:masterClrMapping/>
  </p:clrMapOvr>
  <p:hf hd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F18A0-E201-1900-A139-E830DD3EA1D1}"/>
              </a:ext>
            </a:extLst>
          </p:cNvPr>
          <p:cNvSpPr>
            <a:spLocks noGrp="1"/>
          </p:cNvSpPr>
          <p:nvPr>
            <p:ph type="dt" sz="half" idx="10"/>
          </p:nvPr>
        </p:nvSpPr>
        <p:spPr/>
        <p:txBody>
          <a:bodyPr/>
          <a:lstStyle/>
          <a:p>
            <a:fld id="{8F3E78AE-7F97-4550-9DD8-BF69171FDC30}" type="datetime1">
              <a:rPr lang="en-IN" smtClean="0"/>
              <a:t>29-07-2026</a:t>
            </a:fld>
            <a:endParaRPr lang="en-IN"/>
          </a:p>
        </p:txBody>
      </p:sp>
      <p:sp>
        <p:nvSpPr>
          <p:cNvPr id="5" name="Footer Placeholder 4">
            <a:extLst>
              <a:ext uri="{FF2B5EF4-FFF2-40B4-BE49-F238E27FC236}">
                <a16:creationId xmlns:a16="http://schemas.microsoft.com/office/drawing/2014/main"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42742794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80259-8D20-E29B-4DC5-312C3DB01BB3}"/>
              </a:ext>
            </a:extLst>
          </p:cNvPr>
          <p:cNvSpPr>
            <a:spLocks noGrp="1"/>
          </p:cNvSpPr>
          <p:nvPr>
            <p:ph type="dt" sz="half" idx="10"/>
          </p:nvPr>
        </p:nvSpPr>
        <p:spPr/>
        <p:txBody>
          <a:bodyPr/>
          <a:lstStyle/>
          <a:p>
            <a:fld id="{FEA886FF-1BA7-4533-94E6-869CE1E2970B}" type="datetime1">
              <a:rPr lang="en-IN" smtClean="0"/>
              <a:t>29-07-2026</a:t>
            </a:fld>
            <a:endParaRPr lang="en-IN"/>
          </a:p>
        </p:txBody>
      </p:sp>
      <p:sp>
        <p:nvSpPr>
          <p:cNvPr id="5" name="Footer Placeholder 4">
            <a:extLst>
              <a:ext uri="{FF2B5EF4-FFF2-40B4-BE49-F238E27FC236}">
                <a16:creationId xmlns:a16="http://schemas.microsoft.com/office/drawing/2014/main"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716121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IN"/>
              <a:t>SCOPE</a:t>
            </a:r>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43827C3E-786B-4150-9177-1C28966A2ADC}" type="datetime1">
              <a:rPr lang="en-IN" smtClean="0"/>
              <a:t>29-07-2026</a:t>
            </a:fld>
            <a:endParaRPr lang="en-IN"/>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65201FD4-9D8D-4491-815B-63C7BF4F0034}" type="slidenum">
              <a:rPr lang="en-IN" smtClean="0"/>
              <a:t>‹#›</a:t>
            </a:fld>
            <a:endParaRPr lang="en-IN"/>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4918291"/>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 id="2147483744" r:id="rId24"/>
    <p:sldLayoutId id="2147483745" r:id="rId25"/>
    <p:sldLayoutId id="2147483746" r:id="rId26"/>
    <p:sldLayoutId id="2147483747" r:id="rId27"/>
    <p:sldLayoutId id="2147483748" r:id="rId28"/>
    <p:sldLayoutId id="2147483749" r:id="rId29"/>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9E27CD-EF84-CB3A-3D07-A3152356892A}"/>
              </a:ext>
            </a:extLst>
          </p:cNvPr>
          <p:cNvPicPr>
            <a:picLocks noChangeAspect="1"/>
          </p:cNvPicPr>
          <p:nvPr/>
        </p:nvPicPr>
        <p:blipFill>
          <a:blip r:embed="rId2"/>
          <a:stretch>
            <a:fillRect/>
          </a:stretch>
        </p:blipFill>
        <p:spPr>
          <a:xfrm>
            <a:off x="3837236" y="344321"/>
            <a:ext cx="4517528" cy="1871634"/>
          </a:xfrm>
          <a:prstGeom prst="rect">
            <a:avLst/>
          </a:prstGeom>
        </p:spPr>
      </p:pic>
      <p:sp>
        <p:nvSpPr>
          <p:cNvPr id="7" name="Title 6">
            <a:extLst>
              <a:ext uri="{FF2B5EF4-FFF2-40B4-BE49-F238E27FC236}">
                <a16:creationId xmlns:a16="http://schemas.microsoft.com/office/drawing/2014/main" id="{8BAD67C4-20B4-E1F6-A7E7-C8C33181D0C9}"/>
              </a:ext>
            </a:extLst>
          </p:cNvPr>
          <p:cNvSpPr txBox="1">
            <a:spLocks noGrp="1"/>
          </p:cNvSpPr>
          <p:nvPr>
            <p:ph type="ctrTitle"/>
          </p:nvPr>
        </p:nvSpPr>
        <p:spPr>
          <a:xfrm>
            <a:off x="1866044" y="2215955"/>
            <a:ext cx="8924544" cy="1421928"/>
          </a:xfrm>
          <a:prstGeom prst="rect">
            <a:avLst/>
          </a:prstGeom>
          <a:noFill/>
        </p:spPr>
        <p:txBody>
          <a:bodyPr wrap="square" rtlCol="0">
            <a:spAutoFit/>
          </a:bodyPr>
          <a:lstStyle/>
          <a:p>
            <a:pPr algn="ctr"/>
            <a:r>
              <a:rPr lang="en-IN" sz="2000" b="1" dirty="0">
                <a:highlight>
                  <a:srgbClr val="FFFF00"/>
                </a:highlight>
                <a:latin typeface="Times New Roman" panose="02020603050405020304" pitchFamily="18" charset="0"/>
                <a:cs typeface="Times New Roman" panose="02020603050405020304" pitchFamily="18" charset="0"/>
              </a:rPr>
              <a:t>Programme </a:t>
            </a:r>
            <a:r>
              <a:rPr lang="en-IN" sz="2000" b="1" dirty="0" err="1">
                <a:highlight>
                  <a:srgbClr val="FFFF00"/>
                </a:highlight>
                <a:latin typeface="Times New Roman" panose="02020603050405020304" pitchFamily="18" charset="0"/>
                <a:cs typeface="Times New Roman" panose="02020603050405020304" pitchFamily="18" charset="0"/>
              </a:rPr>
              <a:t>B.Tech</a:t>
            </a:r>
            <a:br>
              <a:rPr lang="en-IN" sz="2000" b="1" dirty="0">
                <a:highlight>
                  <a:srgbClr val="FFFF00"/>
                </a:highlight>
                <a:latin typeface="Times New Roman" panose="02020603050405020304" pitchFamily="18" charset="0"/>
                <a:cs typeface="Times New Roman" panose="02020603050405020304" pitchFamily="18" charset="0"/>
              </a:rPr>
            </a:br>
            <a:r>
              <a:rPr lang="en-IN" sz="2000" b="1" dirty="0">
                <a:highlight>
                  <a:srgbClr val="FFFF00"/>
                </a:highlight>
                <a:latin typeface="Times New Roman" panose="02020603050405020304" pitchFamily="18" charset="0"/>
                <a:cs typeface="Times New Roman" panose="02020603050405020304" pitchFamily="18" charset="0"/>
              </a:rPr>
              <a:t> BCSE497J – Project I</a:t>
            </a:r>
            <a:br>
              <a:rPr lang="en-IN" sz="32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Training Shared Diagnostic Models On Distributed Hospital Data Without Data Exposure</a:t>
            </a:r>
          </a:p>
        </p:txBody>
      </p:sp>
      <p:sp>
        <p:nvSpPr>
          <p:cNvPr id="9" name="object 3">
            <a:extLst>
              <a:ext uri="{FF2B5EF4-FFF2-40B4-BE49-F238E27FC236}">
                <a16:creationId xmlns:a16="http://schemas.microsoft.com/office/drawing/2014/main" id="{68BC382C-506F-4908-6AC3-C0AA73064F47}"/>
              </a:ext>
            </a:extLst>
          </p:cNvPr>
          <p:cNvSpPr txBox="1"/>
          <p:nvPr/>
        </p:nvSpPr>
        <p:spPr>
          <a:xfrm>
            <a:off x="2609088" y="3208471"/>
            <a:ext cx="7071360" cy="2460809"/>
          </a:xfrm>
          <a:prstGeom prst="rect">
            <a:avLst/>
          </a:prstGeom>
        </p:spPr>
        <p:txBody>
          <a:bodyPr vert="horz" wrap="square" lIns="0" tIns="12700" rIns="0" bIns="0" rtlCol="0">
            <a:spAutoFit/>
          </a:bodyPr>
          <a:lstStyle/>
          <a:p>
            <a:pPr>
              <a:lnSpc>
                <a:spcPct val="100000"/>
              </a:lnSpc>
              <a:spcBef>
                <a:spcPts val="200"/>
              </a:spcBef>
            </a:pPr>
            <a:endParaRPr sz="1800" dirty="0">
              <a:latin typeface="Times New Roman"/>
              <a:cs typeface="Times New Roman"/>
            </a:endParaRPr>
          </a:p>
          <a:p>
            <a:pPr marL="12700">
              <a:lnSpc>
                <a:spcPct val="100000"/>
              </a:lnSpc>
            </a:pPr>
            <a:r>
              <a:rPr sz="2000" spc="-20" dirty="0">
                <a:latin typeface="Times New Roman"/>
                <a:cs typeface="Times New Roman"/>
              </a:rPr>
              <a:t>Team</a:t>
            </a:r>
            <a:r>
              <a:rPr sz="2000" spc="-80" dirty="0">
                <a:latin typeface="Times New Roman"/>
                <a:cs typeface="Times New Roman"/>
              </a:rPr>
              <a:t> </a:t>
            </a:r>
            <a:r>
              <a:rPr sz="2000" spc="-10" dirty="0">
                <a:latin typeface="Times New Roman"/>
                <a:cs typeface="Times New Roman"/>
              </a:rPr>
              <a:t>members:</a:t>
            </a:r>
            <a:endParaRPr sz="2000" dirty="0">
              <a:latin typeface="Times New Roman"/>
              <a:cs typeface="Times New Roman"/>
            </a:endParaRPr>
          </a:p>
          <a:p>
            <a:pPr marL="149225" indent="-136525">
              <a:lnSpc>
                <a:spcPct val="100000"/>
              </a:lnSpc>
              <a:spcBef>
                <a:spcPts val="20"/>
              </a:spcBef>
              <a:buFont typeface="Times New Roman"/>
              <a:buChar char="•"/>
              <a:tabLst>
                <a:tab pos="149225" algn="l"/>
              </a:tabLst>
            </a:pPr>
            <a:r>
              <a:rPr lang="en-IN" sz="2000" b="1" dirty="0">
                <a:latin typeface="Times New Roman"/>
                <a:cs typeface="Times New Roman"/>
              </a:rPr>
              <a:t>Hitharth Rajani              23BCB0097</a:t>
            </a:r>
          </a:p>
          <a:p>
            <a:pPr marL="149225" indent="-136525">
              <a:lnSpc>
                <a:spcPct val="100000"/>
              </a:lnSpc>
              <a:spcBef>
                <a:spcPts val="20"/>
              </a:spcBef>
              <a:buFont typeface="Times New Roman"/>
              <a:buChar char="•"/>
              <a:tabLst>
                <a:tab pos="149225" algn="l"/>
              </a:tabLst>
            </a:pPr>
            <a:r>
              <a:rPr lang="en-IN" sz="2000" b="1" dirty="0">
                <a:latin typeface="Times New Roman"/>
                <a:cs typeface="Times New Roman"/>
              </a:rPr>
              <a:t>Vaibhav Mehta		 23BCE0485</a:t>
            </a:r>
          </a:p>
          <a:p>
            <a:pPr marL="149225" indent="-136525">
              <a:lnSpc>
                <a:spcPct val="100000"/>
              </a:lnSpc>
              <a:spcBef>
                <a:spcPts val="20"/>
              </a:spcBef>
              <a:buFont typeface="Times New Roman"/>
              <a:buChar char="•"/>
              <a:tabLst>
                <a:tab pos="149225" algn="l"/>
              </a:tabLst>
            </a:pPr>
            <a:endParaRPr lang="en-IN" sz="2000" b="1" dirty="0">
              <a:latin typeface="Times New Roman"/>
              <a:cs typeface="Times New Roman"/>
            </a:endParaRPr>
          </a:p>
          <a:p>
            <a:pPr marL="12700">
              <a:lnSpc>
                <a:spcPct val="100000"/>
              </a:lnSpc>
              <a:spcBef>
                <a:spcPts val="100"/>
              </a:spcBef>
            </a:pPr>
            <a:r>
              <a:rPr lang="en-US" sz="2000" dirty="0">
                <a:latin typeface="Times New Roman"/>
                <a:cs typeface="Times New Roman"/>
              </a:rPr>
              <a:t>Faculty</a:t>
            </a:r>
            <a:r>
              <a:rPr lang="en-US" sz="2000" spc="-60" dirty="0">
                <a:latin typeface="Times New Roman"/>
                <a:cs typeface="Times New Roman"/>
              </a:rPr>
              <a:t> </a:t>
            </a:r>
            <a:r>
              <a:rPr lang="en-US" sz="2000" dirty="0">
                <a:latin typeface="Times New Roman"/>
                <a:cs typeface="Times New Roman"/>
              </a:rPr>
              <a:t>guide</a:t>
            </a:r>
            <a:r>
              <a:rPr lang="en-US" sz="2000" spc="-55" dirty="0">
                <a:latin typeface="Times New Roman"/>
                <a:cs typeface="Times New Roman"/>
              </a:rPr>
              <a:t> </a:t>
            </a:r>
            <a:r>
              <a:rPr lang="en-US" sz="2000" spc="-50" dirty="0">
                <a:latin typeface="Times New Roman"/>
                <a:cs typeface="Times New Roman"/>
              </a:rPr>
              <a:t>:</a:t>
            </a:r>
            <a:endParaRPr lang="en-US" sz="2000" dirty="0">
              <a:latin typeface="Times New Roman"/>
              <a:cs typeface="Times New Roman"/>
            </a:endParaRPr>
          </a:p>
          <a:p>
            <a:pPr marL="12700">
              <a:lnSpc>
                <a:spcPct val="100000"/>
              </a:lnSpc>
              <a:spcBef>
                <a:spcPts val="20"/>
              </a:spcBef>
            </a:pPr>
            <a:r>
              <a:rPr lang="en-US" sz="2000" b="1" dirty="0">
                <a:latin typeface="Times New Roman"/>
                <a:cs typeface="Times New Roman"/>
              </a:rPr>
              <a:t>Dr. Deepa D</a:t>
            </a:r>
            <a:endParaRPr lang="en-US" sz="2000" dirty="0">
              <a:latin typeface="Times New Roman"/>
              <a:cs typeface="Times New Roman"/>
            </a:endParaRPr>
          </a:p>
          <a:p>
            <a:pPr marL="149225" indent="-136525">
              <a:lnSpc>
                <a:spcPct val="100000"/>
              </a:lnSpc>
              <a:spcBef>
                <a:spcPts val="20"/>
              </a:spcBef>
              <a:buFont typeface="Times New Roman"/>
              <a:buChar char="•"/>
              <a:tabLst>
                <a:tab pos="149225" algn="l"/>
              </a:tabLst>
            </a:pPr>
            <a:endParaRPr sz="1800" dirty="0">
              <a:latin typeface="Times New Roman"/>
              <a:cs typeface="Times New Roman"/>
            </a:endParaRPr>
          </a:p>
        </p:txBody>
      </p:sp>
    </p:spTree>
    <p:extLst>
      <p:ext uri="{BB962C8B-B14F-4D97-AF65-F5344CB8AC3E}">
        <p14:creationId xmlns:p14="http://schemas.microsoft.com/office/powerpoint/2010/main" val="424303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027305EA-516C-11F8-8A54-2BA046094ABC}"/>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spc="-25" dirty="0">
                <a:latin typeface="Times New Roman" panose="02020603050405020304" pitchFamily="18" charset="0"/>
                <a:cs typeface="Times New Roman" panose="02020603050405020304" pitchFamily="18" charset="0"/>
              </a:rPr>
              <a:t>Aim</a:t>
            </a:r>
            <a:endParaRPr sz="3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D68A428-04DA-E6A8-7606-5D2FE5F31C52}"/>
              </a:ext>
            </a:extLst>
          </p:cNvPr>
          <p:cNvSpPr>
            <a:spLocks noGrp="1"/>
          </p:cNvSpPr>
          <p:nvPr>
            <p:ph idx="1"/>
          </p:nvPr>
        </p:nvSpPr>
        <p:spPr/>
        <p:txBody>
          <a:bodyPr>
            <a:normAutofit/>
          </a:bodyPr>
          <a:lstStyle/>
          <a:p>
            <a:pPr algn="just"/>
            <a:r>
              <a:rPr lang="en-IN" sz="2400" dirty="0">
                <a:latin typeface="Times New Roman" panose="02020603050405020304" pitchFamily="18" charset="0"/>
                <a:cs typeface="Times New Roman" panose="02020603050405020304" pitchFamily="18" charset="0"/>
              </a:rPr>
              <a:t>To develop a privacy-preserving federated learning system that trains diagnostic models across non-IID hospital data using personalization (</a:t>
            </a:r>
            <a:r>
              <a:rPr lang="en-IN" sz="2400" dirty="0" err="1">
                <a:latin typeface="Times New Roman" panose="02020603050405020304" pitchFamily="18" charset="0"/>
                <a:cs typeface="Times New Roman" panose="02020603050405020304" pitchFamily="18" charset="0"/>
              </a:rPr>
              <a:t>FedProx</a:t>
            </a:r>
            <a:r>
              <a:rPr lang="en-IN" sz="2400" dirty="0">
                <a:latin typeface="Times New Roman" panose="02020603050405020304" pitchFamily="18" charset="0"/>
                <a:cs typeface="Times New Roman" panose="02020603050405020304" pitchFamily="18" charset="0"/>
              </a:rPr>
              <a:t>).</a:t>
            </a:r>
          </a:p>
          <a:p>
            <a:pPr algn="just"/>
            <a:r>
              <a:rPr lang="en-IN" sz="2400" dirty="0">
                <a:latin typeface="Times New Roman" panose="02020603050405020304" pitchFamily="18" charset="0"/>
                <a:cs typeface="Times New Roman" panose="02020603050405020304" pitchFamily="18" charset="0"/>
              </a:rPr>
              <a:t>To handle non-IID client heterogeneity and real-time distribution shift using a novel, closed-loop drift-aware controller that dynamically adjusts personalization, aggregation, and privacy mechanisms</a:t>
            </a:r>
          </a:p>
          <a:p>
            <a:pPr algn="just"/>
            <a:r>
              <a:rPr lang="en-IN" sz="2400" dirty="0">
                <a:latin typeface="Times New Roman" panose="02020603050405020304" pitchFamily="18" charset="0"/>
                <a:cs typeface="Times New Roman" panose="02020603050405020304" pitchFamily="18" charset="0"/>
              </a:rPr>
              <a:t>To empirically audit actual privacy guarantees by attacking our own model using membership-inference attacks, rather than relying solely on theoretical metrics.</a:t>
            </a:r>
          </a:p>
        </p:txBody>
      </p:sp>
      <p:sp>
        <p:nvSpPr>
          <p:cNvPr id="7" name="Date Placeholder 6">
            <a:extLst>
              <a:ext uri="{FF2B5EF4-FFF2-40B4-BE49-F238E27FC236}">
                <a16:creationId xmlns:a16="http://schemas.microsoft.com/office/drawing/2014/main" id="{779E6AA7-AE20-8A91-BA42-261BF76A2F8B}"/>
              </a:ext>
            </a:extLst>
          </p:cNvPr>
          <p:cNvSpPr>
            <a:spLocks noGrp="1"/>
          </p:cNvSpPr>
          <p:nvPr>
            <p:ph type="dt" sz="half" idx="10"/>
          </p:nvPr>
        </p:nvSpPr>
        <p:spPr/>
        <p:txBody>
          <a:bodyPr/>
          <a:lstStyle/>
          <a:p>
            <a:fld id="{61736562-4E3F-4038-A291-A7AE35CC3E6A}" type="datetime1">
              <a:rPr lang="en-IN" smtClean="0"/>
              <a:t>29-07-2026</a:t>
            </a:fld>
            <a:endParaRPr lang="en-IN"/>
          </a:p>
        </p:txBody>
      </p:sp>
      <p:sp>
        <p:nvSpPr>
          <p:cNvPr id="8" name="Footer Placeholder 7">
            <a:extLst>
              <a:ext uri="{FF2B5EF4-FFF2-40B4-BE49-F238E27FC236}">
                <a16:creationId xmlns:a16="http://schemas.microsoft.com/office/drawing/2014/main" id="{B77FE434-77F0-B8BE-9198-66090332F3F0}"/>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5AD6A9DA-AEE9-F6FE-EFA8-06396314F7E6}"/>
              </a:ext>
            </a:extLst>
          </p:cNvPr>
          <p:cNvSpPr>
            <a:spLocks noGrp="1"/>
          </p:cNvSpPr>
          <p:nvPr>
            <p:ph type="sldNum" sz="quarter" idx="12"/>
          </p:nvPr>
        </p:nvSpPr>
        <p:spPr/>
        <p:txBody>
          <a:bodyPr/>
          <a:lstStyle/>
          <a:p>
            <a:fld id="{65201FD4-9D8D-4491-815B-63C7BF4F0034}" type="slidenum">
              <a:rPr lang="en-IN" smtClean="0"/>
              <a:t>2</a:t>
            </a:fld>
            <a:endParaRPr lang="en-IN"/>
          </a:p>
        </p:txBody>
      </p:sp>
    </p:spTree>
    <p:extLst>
      <p:ext uri="{BB962C8B-B14F-4D97-AF65-F5344CB8AC3E}">
        <p14:creationId xmlns:p14="http://schemas.microsoft.com/office/powerpoint/2010/main" val="2543518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Abstract</a:t>
            </a:r>
            <a:endParaRPr sz="3000" b="1" dirty="0">
              <a:latin typeface="Times New Roman" panose="02020603050405020304" pitchFamily="18" charset="0"/>
              <a:cs typeface="Times New Roman" panose="02020603050405020304" pitchFamily="18" charset="0"/>
            </a:endParaRPr>
          </a:p>
        </p:txBody>
      </p:sp>
      <p:sp>
        <p:nvSpPr>
          <p:cNvPr id="7" name="Rectangle 1">
            <a:extLst>
              <a:ext uri="{FF2B5EF4-FFF2-40B4-BE49-F238E27FC236}">
                <a16:creationId xmlns:a16="http://schemas.microsoft.com/office/drawing/2014/main" id="{2CFB355B-B5B0-1C5D-E0ED-9AA23214DB30}"/>
              </a:ext>
            </a:extLst>
          </p:cNvPr>
          <p:cNvSpPr>
            <a:spLocks noGrp="1" noChangeArrowheads="1"/>
          </p:cNvSpPr>
          <p:nvPr>
            <p:ph idx="1"/>
          </p:nvPr>
        </p:nvSpPr>
        <p:spPr bwMode="auto">
          <a:xfrm>
            <a:off x="976614" y="1859339"/>
            <a:ext cx="1023877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Healthcare institutions cannot centralize patient records due to strict privacy regulations, while individual hospitals often lack sufficiently diverse data to train robust diagnostic models. Standard federated learning (</a:t>
            </a:r>
            <a:r>
              <a:rPr kumimoji="0" lang="en-US" altLang="en-US" sz="1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FedAvg</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struggles under non-IID patient demographics and static clinical environments. Furthermore, claiming privacy through theoretical differential privacy bounds (ϵ) fails to account for empirical data leakage or severe utility degradation. To address these challenges, we propose </a:t>
            </a:r>
            <a:r>
              <a:rPr kumimoji="0" lang="en-US" altLang="en-US" sz="1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FedCare</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 federated healthcare diagnostic system that integrates </a:t>
            </a:r>
            <a:r>
              <a:rPr kumimoji="0" lang="en-US" altLang="en-US" sz="1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FedProx</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personalization, </a:t>
            </a:r>
            <a:r>
              <a:rPr kumimoji="0" lang="en-US" altLang="en-US" sz="1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Opacus</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DP-SGD, and membership-inference privacy auditing. The system introduces a closed-loop, drift-aware controller that continuously monitors client update drift and leakage risk to dynamically regulate personalization parameters, client aggregation weights, and privacy noise. Validated on non-IID Dirichlet partitions of the CDC Diabetes Health Indicators dataset, </a:t>
            </a:r>
            <a:r>
              <a:rPr kumimoji="0" lang="en-US" altLang="en-US" sz="1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FedCare</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achieves optimal diagnostic accuracy for minority hospital demographics while actively maintaining empirically audited patient privacy.</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29-07-2026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3</a:t>
            </a:fld>
            <a:endParaRPr lang="en-IN"/>
          </a:p>
        </p:txBody>
      </p:sp>
    </p:spTree>
    <p:extLst>
      <p:ext uri="{BB962C8B-B14F-4D97-AF65-F5344CB8AC3E}">
        <p14:creationId xmlns:p14="http://schemas.microsoft.com/office/powerpoint/2010/main" val="3453097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0AE58-8206-476A-BECC-A1ADC0EA154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435FB437-6170-6BA2-1A38-A902855A3E61}"/>
              </a:ext>
            </a:extLst>
          </p:cNvPr>
          <p:cNvSpPr txBox="1">
            <a:spLocks noGrp="1"/>
          </p:cNvSpPr>
          <p:nvPr>
            <p:ph type="title"/>
          </p:nvPr>
        </p:nvSpPr>
        <p:spPr>
          <a:xfrm>
            <a:off x="448056"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Literature Review</a:t>
            </a:r>
            <a:endParaRPr sz="3000" b="1" dirty="0">
              <a:latin typeface="Times New Roman" panose="02020603050405020304" pitchFamily="18" charset="0"/>
              <a:cs typeface="Times New Roman" panose="02020603050405020304" pitchFamily="18" charset="0"/>
            </a:endParaRPr>
          </a:p>
        </p:txBody>
      </p:sp>
      <p:graphicFrame>
        <p:nvGraphicFramePr>
          <p:cNvPr id="11" name="Content Placeholder 10">
            <a:extLst>
              <a:ext uri="{FF2B5EF4-FFF2-40B4-BE49-F238E27FC236}">
                <a16:creationId xmlns:a16="http://schemas.microsoft.com/office/drawing/2014/main" id="{90D2A045-EF13-4AF9-D1E2-B173D965B769}"/>
              </a:ext>
            </a:extLst>
          </p:cNvPr>
          <p:cNvGraphicFramePr>
            <a:graphicFrameLocks noGrp="1"/>
          </p:cNvGraphicFramePr>
          <p:nvPr>
            <p:ph idx="1"/>
            <p:extLst>
              <p:ext uri="{D42A27DB-BD31-4B8C-83A1-F6EECF244321}">
                <p14:modId xmlns:p14="http://schemas.microsoft.com/office/powerpoint/2010/main" val="1060162611"/>
              </p:ext>
            </p:extLst>
          </p:nvPr>
        </p:nvGraphicFramePr>
        <p:xfrm>
          <a:off x="655519" y="1878874"/>
          <a:ext cx="10682573" cy="4485640"/>
        </p:xfrm>
        <a:graphic>
          <a:graphicData uri="http://schemas.openxmlformats.org/drawingml/2006/table">
            <a:tbl>
              <a:tblPr firstRow="1" bandRow="1">
                <a:tableStyleId>{5C22544A-7EE6-4342-B048-85BDC9FD1C3A}</a:tableStyleId>
              </a:tblPr>
              <a:tblGrid>
                <a:gridCol w="2270093">
                  <a:extLst>
                    <a:ext uri="{9D8B030D-6E8A-4147-A177-3AD203B41FA5}">
                      <a16:colId xmlns:a16="http://schemas.microsoft.com/office/drawing/2014/main" val="2934300016"/>
                    </a:ext>
                  </a:extLst>
                </a:gridCol>
                <a:gridCol w="2103120">
                  <a:extLst>
                    <a:ext uri="{9D8B030D-6E8A-4147-A177-3AD203B41FA5}">
                      <a16:colId xmlns:a16="http://schemas.microsoft.com/office/drawing/2014/main" val="1768159771"/>
                    </a:ext>
                  </a:extLst>
                </a:gridCol>
                <a:gridCol w="2103120">
                  <a:extLst>
                    <a:ext uri="{9D8B030D-6E8A-4147-A177-3AD203B41FA5}">
                      <a16:colId xmlns:a16="http://schemas.microsoft.com/office/drawing/2014/main" val="4229336369"/>
                    </a:ext>
                  </a:extLst>
                </a:gridCol>
                <a:gridCol w="2103120">
                  <a:extLst>
                    <a:ext uri="{9D8B030D-6E8A-4147-A177-3AD203B41FA5}">
                      <a16:colId xmlns:a16="http://schemas.microsoft.com/office/drawing/2014/main" val="2218980608"/>
                    </a:ext>
                  </a:extLst>
                </a:gridCol>
                <a:gridCol w="2103120">
                  <a:extLst>
                    <a:ext uri="{9D8B030D-6E8A-4147-A177-3AD203B41FA5}">
                      <a16:colId xmlns:a16="http://schemas.microsoft.com/office/drawing/2014/main" val="3373702299"/>
                    </a:ext>
                  </a:extLst>
                </a:gridCol>
              </a:tblGrid>
              <a:tr h="370840">
                <a:tc>
                  <a:txBody>
                    <a:bodyPr/>
                    <a:lstStyle/>
                    <a:p>
                      <a:r>
                        <a:rPr lang="en-IN" sz="1800" b="0" i="0" u="none" strike="noStrike" kern="1200" dirty="0">
                          <a:solidFill>
                            <a:schemeClr val="lt1"/>
                          </a:solidFill>
                          <a:effectLst/>
                          <a:latin typeface="Times New Roman" panose="02020603050405020304" pitchFamily="18" charset="0"/>
                          <a:ea typeface="+mn-ea"/>
                          <a:cs typeface="Times New Roman" panose="02020603050405020304" pitchFamily="18" charset="0"/>
                        </a:rPr>
                        <a:t>Paper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Objective</a:t>
                      </a:r>
                    </a:p>
                  </a:txBody>
                  <a:tcPr/>
                </a:tc>
                <a:tc>
                  <a:txBody>
                    <a:bodyPr/>
                    <a:lstStyle/>
                    <a:p>
                      <a:r>
                        <a:rPr lang="en-US" dirty="0">
                          <a:latin typeface="Times New Roman" panose="02020603050405020304" pitchFamily="18" charset="0"/>
                          <a:cs typeface="Times New Roman" panose="02020603050405020304" pitchFamily="18" charset="0"/>
                        </a:rPr>
                        <a:t>Methodology</a:t>
                      </a:r>
                    </a:p>
                  </a:txBody>
                  <a:tcPr/>
                </a:tc>
                <a:tc>
                  <a:txBody>
                    <a:bodyPr/>
                    <a:lstStyle/>
                    <a:p>
                      <a:r>
                        <a:rPr lang="en-US" dirty="0">
                          <a:latin typeface="Times New Roman" panose="02020603050405020304" pitchFamily="18" charset="0"/>
                          <a:cs typeface="Times New Roman" panose="02020603050405020304" pitchFamily="18" charset="0"/>
                        </a:rPr>
                        <a:t>Pros/Cons</a:t>
                      </a:r>
                    </a:p>
                  </a:txBody>
                  <a:tcPr/>
                </a:tc>
                <a:tc>
                  <a:txBody>
                    <a:bodyPr/>
                    <a:lstStyle/>
                    <a:p>
                      <a:r>
                        <a:rPr lang="en-US" dirty="0">
                          <a:latin typeface="Times New Roman" panose="02020603050405020304" pitchFamily="18" charset="0"/>
                          <a:cs typeface="Times New Roman" panose="02020603050405020304" pitchFamily="18" charset="0"/>
                        </a:rPr>
                        <a:t>Findings</a:t>
                      </a:r>
                    </a:p>
                  </a:txBody>
                  <a:tcPr/>
                </a:tc>
                <a:extLst>
                  <a:ext uri="{0D108BD9-81ED-4DB2-BD59-A6C34878D82A}">
                    <a16:rowId xmlns:a16="http://schemas.microsoft.com/office/drawing/2014/main" val="2916875255"/>
                  </a:ext>
                </a:extLst>
              </a:tr>
              <a:tr h="0">
                <a:tc>
                  <a:txBody>
                    <a:bodyPr/>
                    <a:lstStyle/>
                    <a:p>
                      <a:r>
                        <a:rPr lang="en-IN" sz="1400" b="1" i="0" kern="1200" dirty="0">
                          <a:solidFill>
                            <a:schemeClr val="dk1"/>
                          </a:solidFill>
                          <a:effectLst/>
                          <a:latin typeface="Times New Roman" panose="02020603050405020304" pitchFamily="18" charset="0"/>
                          <a:ea typeface="+mn-ea"/>
                          <a:cs typeface="Times New Roman" panose="02020603050405020304" pitchFamily="18" charset="0"/>
                        </a:rPr>
                        <a:t>Base Paper (2026)</a:t>
                      </a:r>
                      <a:endParaRPr lang="en-IN" sz="1400" b="0" i="0" kern="1200" dirty="0">
                        <a:solidFill>
                          <a:schemeClr val="dk1"/>
                        </a:solidFill>
                        <a:effectLst/>
                        <a:latin typeface="Times New Roman" panose="02020603050405020304" pitchFamily="18" charset="0"/>
                        <a:ea typeface="+mn-ea"/>
                        <a:cs typeface="Times New Roman" panose="02020603050405020304" pitchFamily="18" charset="0"/>
                      </a:endParaRPr>
                    </a:p>
                    <a:p>
                      <a:br>
                        <a:rPr lang="en-IN" sz="1400" dirty="0">
                          <a:latin typeface="Times New Roman" panose="02020603050405020304" pitchFamily="18" charset="0"/>
                          <a:cs typeface="Times New Roman" panose="02020603050405020304" pitchFamily="18" charset="0"/>
                        </a:rPr>
                      </a:br>
                      <a:endParaRPr lang="en-IN" sz="1400" dirty="0">
                        <a:latin typeface="Times New Roman" panose="02020603050405020304" pitchFamily="18" charset="0"/>
                        <a:cs typeface="Times New Roman" panose="02020603050405020304" pitchFamily="18" charset="0"/>
                      </a:endParaRPr>
                    </a:p>
                    <a:p>
                      <a:r>
                        <a:rPr lang="en-IN" sz="1400" b="0" i="1" kern="1200" dirty="0">
                          <a:solidFill>
                            <a:schemeClr val="dk1"/>
                          </a:solidFill>
                          <a:effectLst/>
                          <a:latin typeface="Times New Roman" panose="02020603050405020304" pitchFamily="18" charset="0"/>
                          <a:ea typeface="+mn-ea"/>
                          <a:cs typeface="Times New Roman" panose="02020603050405020304" pitchFamily="18" charset="0"/>
                        </a:rPr>
                        <a:t>Validation of Adaptive FL on Healthcare Datasets</a:t>
                      </a:r>
                      <a:endParaRPr lang="en-IN" sz="1400" b="0" i="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Recover clinical utility under Differential Privacy across heterogeneous healthcare data.</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Adaptive server-side aggregation combined with DP on cardiovascular data.</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1" i="0" kern="1200" dirty="0">
                          <a:solidFill>
                            <a:schemeClr val="dk1"/>
                          </a:solidFill>
                          <a:effectLst/>
                          <a:latin typeface="Times New Roman" panose="02020603050405020304" pitchFamily="18" charset="0"/>
                          <a:ea typeface="+mn-ea"/>
                          <a:cs typeface="Times New Roman" panose="02020603050405020304" pitchFamily="18" charset="0"/>
                        </a:rPr>
                        <a:t>Pros:</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 Proves fixed policies fail under DP.</a:t>
                      </a:r>
                      <a:endParaRPr lang="en-IN" sz="1400" dirty="0">
                        <a:latin typeface="Times New Roman" panose="02020603050405020304" pitchFamily="18" charset="0"/>
                        <a:cs typeface="Times New Roman" panose="02020603050405020304" pitchFamily="18" charset="0"/>
                      </a:endParaRPr>
                    </a:p>
                    <a:p>
                      <a:r>
                        <a:rPr lang="en-IN" sz="1400" b="1" i="0" kern="1200" dirty="0">
                          <a:solidFill>
                            <a:schemeClr val="dk1"/>
                          </a:solidFill>
                          <a:effectLst/>
                          <a:latin typeface="Times New Roman" panose="02020603050405020304" pitchFamily="18" charset="0"/>
                          <a:ea typeface="+mn-ea"/>
                          <a:cs typeface="Times New Roman" panose="02020603050405020304" pitchFamily="18" charset="0"/>
                        </a:rPr>
                        <a:t>Cons:</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 Lacks explicit closed-loop drift control.</a:t>
                      </a:r>
                    </a:p>
                    <a:p>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Demonstrates that dynamic aggregation is essential to buy back diagnostic utility under DP noise.</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44556716"/>
                  </a:ext>
                </a:extLst>
              </a:tr>
              <a:tr h="370840">
                <a:tc>
                  <a:txBody>
                    <a:bodyPr/>
                    <a:lstStyle/>
                    <a:p>
                      <a:r>
                        <a:rPr lang="en-IN" sz="1400" b="1" i="0" kern="1200" dirty="0">
                          <a:solidFill>
                            <a:schemeClr val="dk1"/>
                          </a:solidFill>
                          <a:effectLst/>
                          <a:latin typeface="Times New Roman" panose="02020603050405020304" pitchFamily="18" charset="0"/>
                          <a:ea typeface="+mn-ea"/>
                          <a:cs typeface="Times New Roman" panose="02020603050405020304" pitchFamily="18" charset="0"/>
                        </a:rPr>
                        <a:t>Survey (2026)</a:t>
                      </a:r>
                      <a:endParaRPr lang="en-IN" sz="1400" b="0" i="0" kern="1200" dirty="0">
                        <a:solidFill>
                          <a:schemeClr val="dk1"/>
                        </a:solidFill>
                        <a:effectLst/>
                        <a:latin typeface="Times New Roman" panose="02020603050405020304" pitchFamily="18" charset="0"/>
                        <a:ea typeface="+mn-ea"/>
                        <a:cs typeface="Times New Roman" panose="02020603050405020304" pitchFamily="18" charset="0"/>
                      </a:endParaRPr>
                    </a:p>
                    <a:p>
                      <a:br>
                        <a:rPr lang="en-IN" sz="1400" dirty="0">
                          <a:latin typeface="Times New Roman" panose="02020603050405020304" pitchFamily="18" charset="0"/>
                          <a:cs typeface="Times New Roman" panose="02020603050405020304" pitchFamily="18" charset="0"/>
                        </a:rPr>
                      </a:br>
                      <a:endParaRPr lang="en-IN" sz="1400" dirty="0">
                        <a:latin typeface="Times New Roman" panose="02020603050405020304" pitchFamily="18" charset="0"/>
                        <a:cs typeface="Times New Roman" panose="02020603050405020304" pitchFamily="18" charset="0"/>
                      </a:endParaRPr>
                    </a:p>
                    <a:p>
                      <a:r>
                        <a:rPr lang="en-IN" sz="1400" b="0" i="1" kern="1200" dirty="0">
                          <a:solidFill>
                            <a:schemeClr val="dk1"/>
                          </a:solidFill>
                          <a:effectLst/>
                          <a:latin typeface="Times New Roman" panose="02020603050405020304" pitchFamily="18" charset="0"/>
                          <a:ea typeface="+mn-ea"/>
                          <a:cs typeface="Times New Roman" panose="02020603050405020304" pitchFamily="18" charset="0"/>
                        </a:rPr>
                        <a:t>Federated Continual Learning Survey</a:t>
                      </a:r>
                      <a:endParaRPr lang="en-IN" sz="1400" b="0" i="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Address privacy and non-stationary data drift in distributed learning.</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Survey of federated continual learning and memory-aware privacy techniques.</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1" i="0" kern="1200" dirty="0">
                          <a:solidFill>
                            <a:schemeClr val="dk1"/>
                          </a:solidFill>
                          <a:effectLst/>
                          <a:latin typeface="Times New Roman" panose="02020603050405020304" pitchFamily="18" charset="0"/>
                          <a:ea typeface="+mn-ea"/>
                          <a:cs typeface="Times New Roman" panose="02020603050405020304" pitchFamily="18" charset="0"/>
                        </a:rPr>
                        <a:t>Pros: </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Comprehensive drift analysis.</a:t>
                      </a:r>
                      <a:endParaRPr lang="en-IN" sz="1400" dirty="0">
                        <a:latin typeface="Times New Roman" panose="02020603050405020304" pitchFamily="18" charset="0"/>
                        <a:cs typeface="Times New Roman" panose="02020603050405020304" pitchFamily="18" charset="0"/>
                      </a:endParaRPr>
                    </a:p>
                    <a:p>
                      <a:r>
                        <a:rPr lang="en-IN" sz="1400" b="1" i="0" kern="1200" dirty="0">
                          <a:solidFill>
                            <a:schemeClr val="dk1"/>
                          </a:solidFill>
                          <a:effectLst/>
                          <a:latin typeface="Times New Roman" panose="02020603050405020304" pitchFamily="18" charset="0"/>
                          <a:ea typeface="+mn-ea"/>
                          <a:cs typeface="Times New Roman" panose="02020603050405020304" pitchFamily="18" charset="0"/>
                        </a:rPr>
                        <a:t>Cons:</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 Theoretical review without unified implementation.</a:t>
                      </a:r>
                    </a:p>
                    <a:p>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Highlights temporal drift and extreme client heterogeneity as major unresolved bottlenecks in FL.</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33030547"/>
                  </a:ext>
                </a:extLst>
              </a:tr>
              <a:tr h="370840">
                <a:tc>
                  <a:txBody>
                    <a:bodyPr/>
                    <a:lstStyle/>
                    <a:p>
                      <a:r>
                        <a:rPr lang="en-IN" sz="1400" b="1" i="0" kern="1200" dirty="0">
                          <a:solidFill>
                            <a:schemeClr val="dk1"/>
                          </a:solidFill>
                          <a:effectLst/>
                          <a:latin typeface="Times New Roman" panose="02020603050405020304" pitchFamily="18" charset="0"/>
                          <a:ea typeface="+mn-ea"/>
                          <a:cs typeface="Times New Roman" panose="02020603050405020304" pitchFamily="18" charset="0"/>
                        </a:rPr>
                        <a:t>Recent Study (2025)</a:t>
                      </a:r>
                      <a:endParaRPr lang="en-IN" sz="1400" b="0" i="0" kern="1200" dirty="0">
                        <a:solidFill>
                          <a:schemeClr val="dk1"/>
                        </a:solidFill>
                        <a:effectLst/>
                        <a:latin typeface="Times New Roman" panose="02020603050405020304" pitchFamily="18" charset="0"/>
                        <a:ea typeface="+mn-ea"/>
                        <a:cs typeface="Times New Roman" panose="02020603050405020304" pitchFamily="18" charset="0"/>
                      </a:endParaRPr>
                    </a:p>
                    <a:p>
                      <a:br>
                        <a:rPr lang="en-IN" sz="1400" dirty="0">
                          <a:latin typeface="Times New Roman" panose="02020603050405020304" pitchFamily="18" charset="0"/>
                          <a:cs typeface="Times New Roman" panose="02020603050405020304" pitchFamily="18" charset="0"/>
                        </a:rPr>
                      </a:br>
                      <a:endParaRPr lang="en-IN" sz="1400" dirty="0">
                        <a:latin typeface="Times New Roman" panose="02020603050405020304" pitchFamily="18" charset="0"/>
                        <a:cs typeface="Times New Roman" panose="02020603050405020304" pitchFamily="18" charset="0"/>
                      </a:endParaRPr>
                    </a:p>
                    <a:p>
                      <a:r>
                        <a:rPr lang="en-IN" sz="1400" b="0" i="1" kern="1200" dirty="0">
                          <a:solidFill>
                            <a:schemeClr val="dk1"/>
                          </a:solidFill>
                          <a:effectLst/>
                          <a:latin typeface="Times New Roman" panose="02020603050405020304" pitchFamily="18" charset="0"/>
                          <a:ea typeface="+mn-ea"/>
                          <a:cs typeface="Times New Roman" panose="02020603050405020304" pitchFamily="18" charset="0"/>
                        </a:rPr>
                        <a:t>Explainable Adaptive Differential Privacy</a:t>
                      </a:r>
                      <a:endParaRPr lang="en-IN" sz="1400" b="0" i="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Adapt privacy protection levels dynamically during decentralized training.</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Adaptive DP mechanism adjusting noise based on training iterations.</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1" i="0" kern="1200" dirty="0">
                          <a:solidFill>
                            <a:schemeClr val="dk1"/>
                          </a:solidFill>
                          <a:effectLst/>
                          <a:latin typeface="Times New Roman" panose="02020603050405020304" pitchFamily="18" charset="0"/>
                          <a:ea typeface="+mn-ea"/>
                          <a:cs typeface="Times New Roman" panose="02020603050405020304" pitchFamily="18" charset="0"/>
                        </a:rPr>
                        <a:t>Pros:</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 Avoids static noise penalties.</a:t>
                      </a:r>
                      <a:endParaRPr lang="en-IN" sz="1400" dirty="0">
                        <a:latin typeface="Times New Roman" panose="02020603050405020304" pitchFamily="18" charset="0"/>
                        <a:cs typeface="Times New Roman" panose="02020603050405020304" pitchFamily="18" charset="0"/>
                      </a:endParaRPr>
                    </a:p>
                    <a:p>
                      <a:r>
                        <a:rPr lang="en-IN" sz="1400" b="1" i="0" kern="1200" dirty="0">
                          <a:solidFill>
                            <a:schemeClr val="dk1"/>
                          </a:solidFill>
                          <a:effectLst/>
                          <a:latin typeface="Times New Roman" panose="02020603050405020304" pitchFamily="18" charset="0"/>
                          <a:ea typeface="+mn-ea"/>
                          <a:cs typeface="Times New Roman" panose="02020603050405020304" pitchFamily="18" charset="0"/>
                        </a:rPr>
                        <a:t>Cons:</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 Does not account for client demographic drift.</a:t>
                      </a:r>
                    </a:p>
                    <a:p>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Confirms that dynamic noise modulation yields significantly higher utility than fixed global privacy bounds.</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94191957"/>
                  </a:ext>
                </a:extLst>
              </a:tr>
            </a:tbl>
          </a:graphicData>
        </a:graphic>
      </p:graphicFrame>
      <p:sp>
        <p:nvSpPr>
          <p:cNvPr id="8" name="Date Placeholder 7">
            <a:extLst>
              <a:ext uri="{FF2B5EF4-FFF2-40B4-BE49-F238E27FC236}">
                <a16:creationId xmlns:a16="http://schemas.microsoft.com/office/drawing/2014/main" id="{913BC6E0-D294-E70D-8B27-13FBFEE5E6F7}"/>
              </a:ext>
            </a:extLst>
          </p:cNvPr>
          <p:cNvSpPr>
            <a:spLocks noGrp="1"/>
          </p:cNvSpPr>
          <p:nvPr>
            <p:ph type="dt" sz="half" idx="10"/>
          </p:nvPr>
        </p:nvSpPr>
        <p:spPr/>
        <p:txBody>
          <a:bodyPr/>
          <a:lstStyle/>
          <a:p>
            <a:fld id="{E919193B-09C0-4C85-858C-650926A9B146}" type="datetime1">
              <a:rPr lang="en-IN" smtClean="0"/>
              <a:t>29-07-2026</a:t>
            </a:fld>
            <a:endParaRPr lang="en-IN"/>
          </a:p>
        </p:txBody>
      </p:sp>
      <p:sp>
        <p:nvSpPr>
          <p:cNvPr id="9" name="Footer Placeholder 8">
            <a:extLst>
              <a:ext uri="{FF2B5EF4-FFF2-40B4-BE49-F238E27FC236}">
                <a16:creationId xmlns:a16="http://schemas.microsoft.com/office/drawing/2014/main" id="{1F284BA2-3334-3EC1-0E81-4C909589729F}"/>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id="{5A8F14EB-D02F-8EDE-87F4-A3F7E8D20C44}"/>
              </a:ext>
            </a:extLst>
          </p:cNvPr>
          <p:cNvSpPr>
            <a:spLocks noGrp="1"/>
          </p:cNvSpPr>
          <p:nvPr>
            <p:ph type="sldNum" sz="quarter" idx="12"/>
          </p:nvPr>
        </p:nvSpPr>
        <p:spPr/>
        <p:txBody>
          <a:bodyPr/>
          <a:lstStyle/>
          <a:p>
            <a:fld id="{65201FD4-9D8D-4491-815B-63C7BF4F0034}" type="slidenum">
              <a:rPr lang="en-IN" smtClean="0"/>
              <a:t>4</a:t>
            </a:fld>
            <a:endParaRPr lang="en-IN"/>
          </a:p>
        </p:txBody>
      </p:sp>
    </p:spTree>
    <p:extLst>
      <p:ext uri="{BB962C8B-B14F-4D97-AF65-F5344CB8AC3E}">
        <p14:creationId xmlns:p14="http://schemas.microsoft.com/office/powerpoint/2010/main" val="857449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F31D6-9B62-9A42-BF8C-1F30F8FACF03}"/>
              </a:ext>
            </a:extLst>
          </p:cNvPr>
          <p:cNvSpPr>
            <a:spLocks noGrp="1"/>
          </p:cNvSpPr>
          <p:nvPr>
            <p:ph type="title"/>
          </p:nvPr>
        </p:nvSpPr>
        <p:spPr/>
        <p:txBody>
          <a:bodyPr>
            <a:normAutofit/>
          </a:bodyPr>
          <a:lstStyle/>
          <a:p>
            <a:r>
              <a:rPr lang="en-IN" sz="3000" b="1" spc="-25" dirty="0">
                <a:latin typeface="Times New Roman" panose="02020603050405020304" pitchFamily="18" charset="0"/>
                <a:cs typeface="Times New Roman" panose="02020603050405020304" pitchFamily="18" charset="0"/>
              </a:rPr>
              <a:t>Literature Review</a:t>
            </a:r>
            <a:endParaRPr lang="en-US" sz="3000" dirty="0"/>
          </a:p>
        </p:txBody>
      </p:sp>
      <p:graphicFrame>
        <p:nvGraphicFramePr>
          <p:cNvPr id="12" name="Content Placeholder 11">
            <a:extLst>
              <a:ext uri="{FF2B5EF4-FFF2-40B4-BE49-F238E27FC236}">
                <a16:creationId xmlns:a16="http://schemas.microsoft.com/office/drawing/2014/main" id="{32341FB8-19F9-05EA-0689-81664A7069CE}"/>
              </a:ext>
            </a:extLst>
          </p:cNvPr>
          <p:cNvGraphicFramePr>
            <a:graphicFrameLocks noGrp="1"/>
          </p:cNvGraphicFramePr>
          <p:nvPr>
            <p:ph idx="1"/>
            <p:extLst>
              <p:ext uri="{D42A27DB-BD31-4B8C-83A1-F6EECF244321}">
                <p14:modId xmlns:p14="http://schemas.microsoft.com/office/powerpoint/2010/main" val="1542385529"/>
              </p:ext>
            </p:extLst>
          </p:nvPr>
        </p:nvGraphicFramePr>
        <p:xfrm>
          <a:off x="838200" y="2062163"/>
          <a:ext cx="10515605" cy="3114040"/>
        </p:xfrm>
        <a:graphic>
          <a:graphicData uri="http://schemas.openxmlformats.org/drawingml/2006/table">
            <a:tbl>
              <a:tblPr firstRow="1" bandRow="1">
                <a:tableStyleId>{5C22544A-7EE6-4342-B048-85BDC9FD1C3A}</a:tableStyleId>
              </a:tblPr>
              <a:tblGrid>
                <a:gridCol w="2103121">
                  <a:extLst>
                    <a:ext uri="{9D8B030D-6E8A-4147-A177-3AD203B41FA5}">
                      <a16:colId xmlns:a16="http://schemas.microsoft.com/office/drawing/2014/main" val="3533405625"/>
                    </a:ext>
                  </a:extLst>
                </a:gridCol>
                <a:gridCol w="2103121">
                  <a:extLst>
                    <a:ext uri="{9D8B030D-6E8A-4147-A177-3AD203B41FA5}">
                      <a16:colId xmlns:a16="http://schemas.microsoft.com/office/drawing/2014/main" val="833342697"/>
                    </a:ext>
                  </a:extLst>
                </a:gridCol>
                <a:gridCol w="2103121">
                  <a:extLst>
                    <a:ext uri="{9D8B030D-6E8A-4147-A177-3AD203B41FA5}">
                      <a16:colId xmlns:a16="http://schemas.microsoft.com/office/drawing/2014/main" val="669131250"/>
                    </a:ext>
                  </a:extLst>
                </a:gridCol>
                <a:gridCol w="2103121">
                  <a:extLst>
                    <a:ext uri="{9D8B030D-6E8A-4147-A177-3AD203B41FA5}">
                      <a16:colId xmlns:a16="http://schemas.microsoft.com/office/drawing/2014/main" val="826674352"/>
                    </a:ext>
                  </a:extLst>
                </a:gridCol>
                <a:gridCol w="2103121">
                  <a:extLst>
                    <a:ext uri="{9D8B030D-6E8A-4147-A177-3AD203B41FA5}">
                      <a16:colId xmlns:a16="http://schemas.microsoft.com/office/drawing/2014/main" val="1275971900"/>
                    </a:ext>
                  </a:extLst>
                </a:gridCol>
              </a:tblGrid>
              <a:tr h="370840">
                <a:tc>
                  <a:txBody>
                    <a:bodyPr/>
                    <a:lstStyle/>
                    <a:p>
                      <a:r>
                        <a:rPr lang="en-IN" sz="1400" b="0" i="0" u="none" strike="noStrike" kern="1200" dirty="0">
                          <a:solidFill>
                            <a:schemeClr val="lt1"/>
                          </a:solidFill>
                          <a:effectLst/>
                          <a:latin typeface="Times New Roman" panose="02020603050405020304" pitchFamily="18" charset="0"/>
                          <a:ea typeface="+mn-ea"/>
                          <a:cs typeface="Times New Roman" panose="02020603050405020304" pitchFamily="18" charset="0"/>
                        </a:rPr>
                        <a:t>Paper</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Objective</a:t>
                      </a:r>
                    </a:p>
                  </a:txBody>
                  <a:tcPr/>
                </a:tc>
                <a:tc>
                  <a:txBody>
                    <a:bodyPr/>
                    <a:lstStyle/>
                    <a:p>
                      <a:r>
                        <a:rPr lang="en-US" sz="1400" dirty="0">
                          <a:latin typeface="Times New Roman" panose="02020603050405020304" pitchFamily="18" charset="0"/>
                          <a:cs typeface="Times New Roman" panose="02020603050405020304" pitchFamily="18" charset="0"/>
                        </a:rPr>
                        <a:t>Methodology</a:t>
                      </a:r>
                    </a:p>
                  </a:txBody>
                  <a:tcPr/>
                </a:tc>
                <a:tc>
                  <a:txBody>
                    <a:bodyPr/>
                    <a:lstStyle/>
                    <a:p>
                      <a:r>
                        <a:rPr lang="en-US" sz="1400" dirty="0">
                          <a:latin typeface="Times New Roman" panose="02020603050405020304" pitchFamily="18" charset="0"/>
                          <a:cs typeface="Times New Roman" panose="02020603050405020304" pitchFamily="18" charset="0"/>
                        </a:rPr>
                        <a:t>Pros/Cons</a:t>
                      </a:r>
                    </a:p>
                  </a:txBody>
                  <a:tcPr/>
                </a:tc>
                <a:tc>
                  <a:txBody>
                    <a:bodyPr/>
                    <a:lstStyle/>
                    <a:p>
                      <a:r>
                        <a:rPr lang="en-US" sz="1400" dirty="0">
                          <a:latin typeface="Times New Roman" panose="02020603050405020304" pitchFamily="18" charset="0"/>
                          <a:cs typeface="Times New Roman" panose="02020603050405020304" pitchFamily="18" charset="0"/>
                        </a:rPr>
                        <a:t>Findings</a:t>
                      </a:r>
                    </a:p>
                  </a:txBody>
                  <a:tcPr/>
                </a:tc>
                <a:extLst>
                  <a:ext uri="{0D108BD9-81ED-4DB2-BD59-A6C34878D82A}">
                    <a16:rowId xmlns:a16="http://schemas.microsoft.com/office/drawing/2014/main" val="3099050164"/>
                  </a:ext>
                </a:extLst>
              </a:tr>
              <a:tr h="370840">
                <a:tc>
                  <a:txBody>
                    <a:bodyPr/>
                    <a:lstStyle/>
                    <a:p>
                      <a:r>
                        <a:rPr lang="en-IN" sz="1400" b="1" i="0" kern="1200" dirty="0">
                          <a:solidFill>
                            <a:schemeClr val="dk1"/>
                          </a:solidFill>
                          <a:effectLst/>
                          <a:latin typeface="Times New Roman" panose="02020603050405020304" pitchFamily="18" charset="0"/>
                          <a:ea typeface="+mn-ea"/>
                          <a:cs typeface="Times New Roman" panose="02020603050405020304" pitchFamily="18" charset="0"/>
                        </a:rPr>
                        <a:t>Survey (2024)</a:t>
                      </a:r>
                      <a:endParaRPr lang="en-IN" sz="1400" b="0" i="0" kern="1200" dirty="0">
                        <a:solidFill>
                          <a:schemeClr val="dk1"/>
                        </a:solidFill>
                        <a:effectLst/>
                        <a:latin typeface="Times New Roman" panose="02020603050405020304" pitchFamily="18" charset="0"/>
                        <a:ea typeface="+mn-ea"/>
                        <a:cs typeface="Times New Roman" panose="02020603050405020304" pitchFamily="18" charset="0"/>
                      </a:endParaRPr>
                    </a:p>
                    <a:p>
                      <a:br>
                        <a:rPr lang="en-IN" sz="1400" dirty="0">
                          <a:latin typeface="Times New Roman" panose="02020603050405020304" pitchFamily="18" charset="0"/>
                          <a:cs typeface="Times New Roman" panose="02020603050405020304" pitchFamily="18" charset="0"/>
                        </a:rPr>
                      </a:br>
                      <a:endParaRPr lang="en-IN" sz="1400" dirty="0">
                        <a:latin typeface="Times New Roman" panose="02020603050405020304" pitchFamily="18" charset="0"/>
                        <a:cs typeface="Times New Roman" panose="02020603050405020304" pitchFamily="18" charset="0"/>
                      </a:endParaRPr>
                    </a:p>
                    <a:p>
                      <a:r>
                        <a:rPr lang="en-IN" sz="1400" b="0" i="1" kern="1200" dirty="0">
                          <a:solidFill>
                            <a:schemeClr val="dk1"/>
                          </a:solidFill>
                          <a:effectLst/>
                          <a:latin typeface="Times New Roman" panose="02020603050405020304" pitchFamily="18" charset="0"/>
                          <a:ea typeface="+mn-ea"/>
                          <a:cs typeface="Times New Roman" panose="02020603050405020304" pitchFamily="18" charset="0"/>
                        </a:rPr>
                        <a:t>Membership Inference Attacks &amp; </a:t>
                      </a:r>
                      <a:r>
                        <a:rPr lang="en-IN" sz="1400" b="0" i="1" kern="1200" dirty="0" err="1">
                          <a:solidFill>
                            <a:schemeClr val="dk1"/>
                          </a:solidFill>
                          <a:effectLst/>
                          <a:latin typeface="Times New Roman" panose="02020603050405020304" pitchFamily="18" charset="0"/>
                          <a:ea typeface="+mn-ea"/>
                          <a:cs typeface="Times New Roman" panose="02020603050405020304" pitchFamily="18" charset="0"/>
                        </a:rPr>
                        <a:t>Defenses</a:t>
                      </a:r>
                      <a:r>
                        <a:rPr lang="en-IN" sz="1400" b="0" i="1" kern="1200" dirty="0">
                          <a:solidFill>
                            <a:schemeClr val="dk1"/>
                          </a:solidFill>
                          <a:effectLst/>
                          <a:latin typeface="Times New Roman" panose="02020603050405020304" pitchFamily="18" charset="0"/>
                          <a:ea typeface="+mn-ea"/>
                          <a:cs typeface="Times New Roman" panose="02020603050405020304" pitchFamily="18" charset="0"/>
                        </a:rPr>
                        <a:t> in FL</a:t>
                      </a:r>
                      <a:endParaRPr lang="en-IN" sz="1400" b="0" i="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0" i="0" kern="1200" dirty="0" err="1">
                          <a:solidFill>
                            <a:schemeClr val="dk1"/>
                          </a:solidFill>
                          <a:effectLst/>
                          <a:latin typeface="Times New Roman" panose="02020603050405020304" pitchFamily="18" charset="0"/>
                          <a:ea typeface="+mn-ea"/>
                          <a:cs typeface="Times New Roman" panose="02020603050405020304" pitchFamily="18" charset="0"/>
                        </a:rPr>
                        <a:t>Analyze</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 data leakage risks and </a:t>
                      </a:r>
                      <a:r>
                        <a:rPr lang="en-IN" sz="1400" b="0" i="0" kern="1200" dirty="0" err="1">
                          <a:solidFill>
                            <a:schemeClr val="dk1"/>
                          </a:solidFill>
                          <a:effectLst/>
                          <a:latin typeface="Times New Roman" panose="02020603050405020304" pitchFamily="18" charset="0"/>
                          <a:ea typeface="+mn-ea"/>
                          <a:cs typeface="Times New Roman" panose="02020603050405020304" pitchFamily="18" charset="0"/>
                        </a:rPr>
                        <a:t>defenses</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 in federated networks.</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Systematic survey of MIA techniques and empirical privacy vulnerabilities.</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1" i="0" kern="1200" dirty="0">
                          <a:solidFill>
                            <a:schemeClr val="dk1"/>
                          </a:solidFill>
                          <a:effectLst/>
                          <a:latin typeface="Times New Roman" panose="02020603050405020304" pitchFamily="18" charset="0"/>
                          <a:ea typeface="+mn-ea"/>
                          <a:cs typeface="Times New Roman" panose="02020603050405020304" pitchFamily="18" charset="0"/>
                        </a:rPr>
                        <a:t>Pros:</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 Benchmarks attack surfaces.</a:t>
                      </a:r>
                      <a:endParaRPr lang="en-IN" sz="1400" dirty="0">
                        <a:latin typeface="Times New Roman" panose="02020603050405020304" pitchFamily="18" charset="0"/>
                        <a:cs typeface="Times New Roman" panose="02020603050405020304" pitchFamily="18" charset="0"/>
                      </a:endParaRPr>
                    </a:p>
                    <a:p>
                      <a:r>
                        <a:rPr lang="en-IN" sz="1400" b="1" i="0" kern="1200" dirty="0">
                          <a:solidFill>
                            <a:schemeClr val="dk1"/>
                          </a:solidFill>
                          <a:effectLst/>
                          <a:latin typeface="Times New Roman" panose="02020603050405020304" pitchFamily="18" charset="0"/>
                          <a:ea typeface="+mn-ea"/>
                          <a:cs typeface="Times New Roman" panose="02020603050405020304" pitchFamily="18" charset="0"/>
                        </a:rPr>
                        <a:t>Cons:</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 Focuses on passive evaluation post-training.</a:t>
                      </a:r>
                    </a:p>
                    <a:p>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Proves MIA remains a primary threat to FL and advocates empirical auditing over pure theoretical </a:t>
                      </a:r>
                      <a:r>
                        <a:rPr lang="el-GR" sz="1400" b="0" i="0" kern="1200" dirty="0">
                          <a:solidFill>
                            <a:schemeClr val="dk1"/>
                          </a:solidFill>
                          <a:effectLst/>
                          <a:latin typeface="Times New Roman" panose="02020603050405020304" pitchFamily="18" charset="0"/>
                          <a:ea typeface="+mn-ea"/>
                          <a:cs typeface="Times New Roman" panose="02020603050405020304" pitchFamily="18" charset="0"/>
                        </a:rPr>
                        <a:t>ϵ </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claims.</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50338845"/>
                  </a:ext>
                </a:extLst>
              </a:tr>
              <a:tr h="370840">
                <a:tc>
                  <a:txBody>
                    <a:bodyPr/>
                    <a:lstStyle/>
                    <a:p>
                      <a:r>
                        <a:rPr lang="en-IN" sz="1400" b="1" i="0" kern="1200" dirty="0">
                          <a:solidFill>
                            <a:schemeClr val="dk1"/>
                          </a:solidFill>
                          <a:effectLst/>
                          <a:latin typeface="Times New Roman" panose="02020603050405020304" pitchFamily="18" charset="0"/>
                          <a:ea typeface="+mn-ea"/>
                          <a:cs typeface="Times New Roman" panose="02020603050405020304" pitchFamily="18" charset="0"/>
                        </a:rPr>
                        <a:t>Healthcare Study (2024)</a:t>
                      </a:r>
                      <a:endParaRPr lang="en-IN" sz="1400" b="0" i="0" kern="1200" dirty="0">
                        <a:solidFill>
                          <a:schemeClr val="dk1"/>
                        </a:solidFill>
                        <a:effectLst/>
                        <a:latin typeface="Times New Roman" panose="02020603050405020304" pitchFamily="18" charset="0"/>
                        <a:ea typeface="+mn-ea"/>
                        <a:cs typeface="Times New Roman" panose="02020603050405020304" pitchFamily="18" charset="0"/>
                      </a:endParaRPr>
                    </a:p>
                    <a:p>
                      <a:br>
                        <a:rPr lang="en-IN" sz="1400" dirty="0">
                          <a:latin typeface="Times New Roman" panose="02020603050405020304" pitchFamily="18" charset="0"/>
                          <a:cs typeface="Times New Roman" panose="02020603050405020304" pitchFamily="18" charset="0"/>
                        </a:rPr>
                      </a:br>
                      <a:endParaRPr lang="en-IN" sz="1400" dirty="0">
                        <a:latin typeface="Times New Roman" panose="02020603050405020304" pitchFamily="18" charset="0"/>
                        <a:cs typeface="Times New Roman" panose="02020603050405020304" pitchFamily="18" charset="0"/>
                      </a:endParaRPr>
                    </a:p>
                    <a:p>
                      <a:r>
                        <a:rPr lang="en-IN" sz="1400" b="0" i="1" kern="1200" dirty="0">
                          <a:solidFill>
                            <a:schemeClr val="dk1"/>
                          </a:solidFill>
                          <a:effectLst/>
                          <a:latin typeface="Times New Roman" panose="02020603050405020304" pitchFamily="18" charset="0"/>
                          <a:ea typeface="+mn-ea"/>
                          <a:cs typeface="Times New Roman" panose="02020603050405020304" pitchFamily="18" charset="0"/>
                        </a:rPr>
                        <a:t>Data Heterogeneity in Healthcare FL</a:t>
                      </a:r>
                      <a:endParaRPr lang="en-IN" sz="1400" b="0" i="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Solve non-IID statistical heterogeneity in clinical prediction models.</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Stratified federated </a:t>
                      </a:r>
                      <a:r>
                        <a:rPr lang="en-IN" sz="1400" b="0" i="0" kern="1200" dirty="0" err="1">
                          <a:solidFill>
                            <a:schemeClr val="dk1"/>
                          </a:solidFill>
                          <a:effectLst/>
                          <a:latin typeface="Times New Roman" panose="02020603050405020304" pitchFamily="18" charset="0"/>
                          <a:ea typeface="+mn-ea"/>
                          <a:cs typeface="Times New Roman" panose="02020603050405020304" pitchFamily="18" charset="0"/>
                        </a:rPr>
                        <a:t>modeling</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 for survival analysis across hospitals.</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1" i="0" kern="1200" dirty="0">
                          <a:solidFill>
                            <a:schemeClr val="dk1"/>
                          </a:solidFill>
                          <a:effectLst/>
                          <a:latin typeface="Times New Roman" panose="02020603050405020304" pitchFamily="18" charset="0"/>
                          <a:ea typeface="+mn-ea"/>
                          <a:cs typeface="Times New Roman" panose="02020603050405020304" pitchFamily="18" charset="0"/>
                        </a:rPr>
                        <a:t>Pros:</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 Tailored to clinical variance.</a:t>
                      </a:r>
                      <a:endParaRPr lang="en-IN" sz="1400" dirty="0">
                        <a:latin typeface="Times New Roman" panose="02020603050405020304" pitchFamily="18" charset="0"/>
                        <a:cs typeface="Times New Roman" panose="02020603050405020304" pitchFamily="18" charset="0"/>
                      </a:endParaRPr>
                    </a:p>
                    <a:p>
                      <a:r>
                        <a:rPr lang="en-IN" sz="1400" b="1" i="0" kern="1200" dirty="0">
                          <a:solidFill>
                            <a:schemeClr val="dk1"/>
                          </a:solidFill>
                          <a:effectLst/>
                          <a:latin typeface="Times New Roman" panose="02020603050405020304" pitchFamily="18" charset="0"/>
                          <a:ea typeface="+mn-ea"/>
                          <a:cs typeface="Times New Roman" panose="02020603050405020304" pitchFamily="18" charset="0"/>
                        </a:rPr>
                        <a:t>Cons:</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 Omits privacy noise and active drift control.</a:t>
                      </a:r>
                    </a:p>
                    <a:p>
                      <a:endParaRPr lang="en-US" sz="1400" dirty="0">
                        <a:latin typeface="Times New Roman" panose="02020603050405020304" pitchFamily="18" charset="0"/>
                        <a:cs typeface="Times New Roman" panose="02020603050405020304" pitchFamily="18" charset="0"/>
                      </a:endParaRPr>
                    </a:p>
                  </a:txBody>
                  <a:tcPr/>
                </a:tc>
                <a:tc>
                  <a:txBody>
                    <a:bodyPr/>
                    <a:lstStyle/>
                    <a:p>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Proves that non-IID clinical distributions severely degrade standard global FL model convergence.</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59506715"/>
                  </a:ext>
                </a:extLst>
              </a:tr>
            </a:tbl>
          </a:graphicData>
        </a:graphic>
      </p:graphicFrame>
      <p:sp>
        <p:nvSpPr>
          <p:cNvPr id="4" name="Date Placeholder 3">
            <a:extLst>
              <a:ext uri="{FF2B5EF4-FFF2-40B4-BE49-F238E27FC236}">
                <a16:creationId xmlns:a16="http://schemas.microsoft.com/office/drawing/2014/main" id="{11EFAE14-B523-D0FF-7087-17D46883D726}"/>
              </a:ext>
            </a:extLst>
          </p:cNvPr>
          <p:cNvSpPr>
            <a:spLocks noGrp="1"/>
          </p:cNvSpPr>
          <p:nvPr>
            <p:ph type="dt" sz="half" idx="10"/>
          </p:nvPr>
        </p:nvSpPr>
        <p:spPr/>
        <p:txBody>
          <a:bodyPr/>
          <a:lstStyle/>
          <a:p>
            <a:fld id="{FEA886FF-1BA7-4533-94E6-869CE1E2970B}" type="datetime1">
              <a:rPr lang="en-IN" smtClean="0"/>
              <a:t>29-07-2026</a:t>
            </a:fld>
            <a:endParaRPr lang="en-IN"/>
          </a:p>
        </p:txBody>
      </p:sp>
      <p:sp>
        <p:nvSpPr>
          <p:cNvPr id="5" name="Footer Placeholder 4">
            <a:extLst>
              <a:ext uri="{FF2B5EF4-FFF2-40B4-BE49-F238E27FC236}">
                <a16:creationId xmlns:a16="http://schemas.microsoft.com/office/drawing/2014/main" id="{6559AE27-8905-4534-8F29-1578D2091053}"/>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44CE970F-E013-5003-617B-9EFB9882F83D}"/>
              </a:ext>
            </a:extLst>
          </p:cNvPr>
          <p:cNvSpPr>
            <a:spLocks noGrp="1"/>
          </p:cNvSpPr>
          <p:nvPr>
            <p:ph type="sldNum" sz="quarter" idx="12"/>
          </p:nvPr>
        </p:nvSpPr>
        <p:spPr/>
        <p:txBody>
          <a:bodyPr/>
          <a:lstStyle/>
          <a:p>
            <a:fld id="{65201FD4-9D8D-4491-815B-63C7BF4F0034}" type="slidenum">
              <a:rPr lang="en-IN" smtClean="0"/>
              <a:t>5</a:t>
            </a:fld>
            <a:endParaRPr lang="en-IN"/>
          </a:p>
        </p:txBody>
      </p:sp>
    </p:spTree>
    <p:extLst>
      <p:ext uri="{BB962C8B-B14F-4D97-AF65-F5344CB8AC3E}">
        <p14:creationId xmlns:p14="http://schemas.microsoft.com/office/powerpoint/2010/main" val="1858894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C5E-26B3-2EE9-895A-F822E4C49ED0}"/>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2E07AC55-BA5E-4123-39E6-B79860C6C9EE}"/>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Research Gap</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2430A72-466B-CBDE-2F02-635BA91A98AF}"/>
              </a:ext>
            </a:extLst>
          </p:cNvPr>
          <p:cNvSpPr>
            <a:spLocks noGrp="1"/>
          </p:cNvSpPr>
          <p:nvPr>
            <p:ph type="dt" sz="half" idx="10"/>
          </p:nvPr>
        </p:nvSpPr>
        <p:spPr/>
        <p:txBody>
          <a:bodyPr/>
          <a:lstStyle/>
          <a:p>
            <a:fld id="{49AE986A-8308-4C4E-A0F3-DDD9B5B25762}" type="datetime1">
              <a:rPr lang="en-IN" smtClean="0"/>
              <a:t>29-07-2026</a:t>
            </a:fld>
            <a:endParaRPr lang="en-IN"/>
          </a:p>
        </p:txBody>
      </p:sp>
      <p:sp>
        <p:nvSpPr>
          <p:cNvPr id="5" name="Footer Placeholder 4">
            <a:extLst>
              <a:ext uri="{FF2B5EF4-FFF2-40B4-BE49-F238E27FC236}">
                <a16:creationId xmlns:a16="http://schemas.microsoft.com/office/drawing/2014/main"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D94E3226-1DB1-3A4D-CE37-4A2AD48EF1F1}"/>
              </a:ext>
            </a:extLst>
          </p:cNvPr>
          <p:cNvSpPr>
            <a:spLocks noGrp="1"/>
          </p:cNvSpPr>
          <p:nvPr>
            <p:ph type="sldNum" sz="quarter" idx="12"/>
          </p:nvPr>
        </p:nvSpPr>
        <p:spPr/>
        <p:txBody>
          <a:bodyPr/>
          <a:lstStyle/>
          <a:p>
            <a:fld id="{65201FD4-9D8D-4491-815B-63C7BF4F0034}" type="slidenum">
              <a:rPr lang="en-IN" smtClean="0"/>
              <a:t>6</a:t>
            </a:fld>
            <a:endParaRPr lang="en-IN"/>
          </a:p>
        </p:txBody>
      </p:sp>
      <p:sp>
        <p:nvSpPr>
          <p:cNvPr id="11" name="Rectangle 2">
            <a:extLst>
              <a:ext uri="{FF2B5EF4-FFF2-40B4-BE49-F238E27FC236}">
                <a16:creationId xmlns:a16="http://schemas.microsoft.com/office/drawing/2014/main" id="{159DB9D4-0ED8-91D7-03EF-5A73F98437C0}"/>
              </a:ext>
            </a:extLst>
          </p:cNvPr>
          <p:cNvSpPr>
            <a:spLocks noChangeArrowheads="1"/>
          </p:cNvSpPr>
          <p:nvPr/>
        </p:nvSpPr>
        <p:spPr bwMode="auto">
          <a:xfrm>
            <a:off x="854529" y="1848998"/>
            <a:ext cx="908612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No Closed-Loop Control of Personalization &amp; Privacy:</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Existing healthcare FL papers treat privacy noise, aggregation, and personalization as static, independent parameters rather than dynamically adjusting them based on real-time drift or leakage risk.</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Unhandled Temporal and Demographic Drift:</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Most frameworks assume static client distributions, failing when clinical reporting, patient demographics, or disease prevalence shift over time.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Theoretical vs. Empirical Privacy Disconnect:</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Systems rely strictly on theoretical differential privacy metrics (ϵ) without empirical validation via active membership-inference attacks to measure actual data memorization.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Lack of Privacy-Aware Adaptive Aggregation:</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Standard aggregation schemes fail to adjust client weights dynamically when individual hospital updates exhibit high variance or instability.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Identified Gap:</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Absence of an integrated federated learning system that combines personalization, DP-SGD, active membership-inference auditing, and a closed-loop drift-aware controller to maintain utility and privacy under non-IID conditions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3102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0AAC-0156-D6F5-7153-C791999940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22BADD22-870A-4D8F-B788-CCCD5C223F9A}"/>
              </a:ext>
            </a:extLst>
          </p:cNvPr>
          <p:cNvSpPr txBox="1">
            <a:spLocks noGrp="1"/>
          </p:cNvSpPr>
          <p:nvPr>
            <p:ph type="title"/>
          </p:nvPr>
        </p:nvSpPr>
        <p:spPr>
          <a:xfrm>
            <a:off x="460248" y="6937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Objectives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1BE4F0EB-E8F1-14D8-E22A-38E83F9BFA9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29-07-2026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6D8B93F-BA73-08B5-E0DD-D434FA25B92B}"/>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E6BABF72-E9F9-626A-63CD-EA20C0714ABC}"/>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7</a:t>
            </a:fld>
            <a:endParaRPr lang="en-IN"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D47AC5BA-35D1-50D1-C5B1-FD3557308D60}"/>
              </a:ext>
            </a:extLst>
          </p:cNvPr>
          <p:cNvSpPr>
            <a:spLocks noChangeArrowheads="1"/>
          </p:cNvSpPr>
          <p:nvPr/>
        </p:nvSpPr>
        <p:spPr bwMode="auto">
          <a:xfrm>
            <a:off x="830035" y="1808152"/>
            <a:ext cx="947966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 partition the CDC Diabetes Health Indicators dataset using Dirichlet distribution (α) to simulate non-IID hospital client populations.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 evaluate baseline diagnostic performance across Centralized, Local-only, </a:t>
            </a:r>
            <a:r>
              <a:rPr kumimoji="0" lang="en-US" altLang="en-US" sz="1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FedAvg</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and </a:t>
            </a:r>
            <a:r>
              <a:rPr kumimoji="0" lang="en-US" altLang="en-US" sz="1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FedProx</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personalized federated strategies.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 integrate </a:t>
            </a:r>
            <a:r>
              <a:rPr kumimoji="0" lang="en-US" altLang="en-US" sz="1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Opacus</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DP-SGD and accurately track cumulative differential privacy loss (ϵ) across all communication rounds.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 implement a loss-threshold membership-inference attack (MIA) to empirically measure patient data leakage across training rounds.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 design and build a closed-loop </a:t>
            </a: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Drift-Aware Controller</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that monitors client update drift and leakage risk to dynamically adjust personalization (</a:t>
            </a:r>
            <a:r>
              <a:rPr kumimoji="0" lang="en-US" altLang="en-US" sz="1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μ</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aggregation weights, and privacy noise.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 establish an empirical Utility vs. Privacy Pareto frontier demonstrating the accuracy recovery provided by the adaptive controller.</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5962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690AE-F23B-6826-F354-52F005A171E2}"/>
              </a:ext>
            </a:extLst>
          </p:cNvPr>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Identified SDGs, TRL, Outcomes</a:t>
            </a:r>
            <a:endParaRPr lang="en-US" sz="30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7048898-2960-631C-0E44-D991B85BB97E}"/>
              </a:ext>
            </a:extLst>
          </p:cNvPr>
          <p:cNvSpPr>
            <a:spLocks noGrp="1"/>
          </p:cNvSpPr>
          <p:nvPr>
            <p:ph type="dt" sz="half" idx="10"/>
          </p:nvPr>
        </p:nvSpPr>
        <p:spPr/>
        <p:txBody>
          <a:bodyPr/>
          <a:lstStyle/>
          <a:p>
            <a:fld id="{FEA886FF-1BA7-4533-94E6-869CE1E2970B}" type="datetime1">
              <a:rPr lang="en-IN" smtClean="0"/>
              <a:t>29-07-2026</a:t>
            </a:fld>
            <a:endParaRPr lang="en-IN"/>
          </a:p>
        </p:txBody>
      </p:sp>
      <p:sp>
        <p:nvSpPr>
          <p:cNvPr id="5" name="Footer Placeholder 4">
            <a:extLst>
              <a:ext uri="{FF2B5EF4-FFF2-40B4-BE49-F238E27FC236}">
                <a16:creationId xmlns:a16="http://schemas.microsoft.com/office/drawing/2014/main" id="{90AC2F99-95E1-AAA7-03C1-0C4DDC75EC17}"/>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4AC6C187-684B-4A73-A39D-30848F204D16}"/>
              </a:ext>
            </a:extLst>
          </p:cNvPr>
          <p:cNvSpPr>
            <a:spLocks noGrp="1"/>
          </p:cNvSpPr>
          <p:nvPr>
            <p:ph type="sldNum" sz="quarter" idx="12"/>
          </p:nvPr>
        </p:nvSpPr>
        <p:spPr/>
        <p:txBody>
          <a:bodyPr/>
          <a:lstStyle/>
          <a:p>
            <a:fld id="{65201FD4-9D8D-4491-815B-63C7BF4F0034}" type="slidenum">
              <a:rPr lang="en-IN" smtClean="0"/>
              <a:t>8</a:t>
            </a:fld>
            <a:endParaRPr lang="en-IN"/>
          </a:p>
        </p:txBody>
      </p:sp>
      <p:sp>
        <p:nvSpPr>
          <p:cNvPr id="9" name="Rectangle 2">
            <a:extLst>
              <a:ext uri="{FF2B5EF4-FFF2-40B4-BE49-F238E27FC236}">
                <a16:creationId xmlns:a16="http://schemas.microsoft.com/office/drawing/2014/main" id="{DF34907A-B4D1-5FED-F155-8D895BB9EDF4}"/>
              </a:ext>
            </a:extLst>
          </p:cNvPr>
          <p:cNvSpPr>
            <a:spLocks noChangeArrowheads="1"/>
          </p:cNvSpPr>
          <p:nvPr/>
        </p:nvSpPr>
        <p:spPr bwMode="auto">
          <a:xfrm>
            <a:off x="838200" y="1775519"/>
            <a:ext cx="100711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Identified Sustainable Development Goals (SDGs):</a:t>
            </a:r>
            <a:endPar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Goal 3 (Good Health and Well-being):</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Developing secure, highly accurate predictive diagnostic systems adaptable to local patient populations.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Goal 9 (Industry, Innovation, and Infrastructure):</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Building resilient, privacy-first data infrastructure for decentralized healthcare AI.</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Technology Readiness Level (TRL):</a:t>
            </a:r>
            <a:endPar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TRL 3:</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Experimental Proof of Concept. The algorithmic solution is validated via active simulation of distributed environments using </a:t>
            </a:r>
            <a:r>
              <a:rPr kumimoji="0" lang="en-US" altLang="en-US" sz="1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PyTorch</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and Flower.</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Outcomes:</a:t>
            </a:r>
            <a:endPar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IN" dirty="0">
                <a:latin typeface="Times New Roman" panose="02020603050405020304" pitchFamily="18" charset="0"/>
                <a:cs typeface="Times New Roman" panose="02020603050405020304" pitchFamily="18" charset="0"/>
              </a:rPr>
              <a:t>Publication of a Scopus-indexed / IEEE-format short research paper detailing the drift-aware adaptive privacy-utility framework.</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96264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7CFC0C65-61CC-E657-43F7-99C8E5362448}"/>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References</a:t>
            </a:r>
            <a:endParaRPr sz="3000" b="1"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732D3DB-7149-E1E5-D5F9-4FC93A788894}"/>
              </a:ext>
            </a:extLst>
          </p:cNvPr>
          <p:cNvSpPr>
            <a:spLocks noGrp="1"/>
          </p:cNvSpPr>
          <p:nvPr>
            <p:ph type="dt" sz="half" idx="10"/>
          </p:nvPr>
        </p:nvSpPr>
        <p:spPr/>
        <p:txBody>
          <a:bodyPr/>
          <a:lstStyle/>
          <a:p>
            <a:fld id="{0A7C7B6C-E68D-4047-8A1E-3C7BD2842AF7}" type="datetime1">
              <a:rPr lang="en-IN" smtClean="0"/>
              <a:t>29-07-2026</a:t>
            </a:fld>
            <a:endParaRPr lang="en-IN"/>
          </a:p>
        </p:txBody>
      </p:sp>
      <p:sp>
        <p:nvSpPr>
          <p:cNvPr id="6" name="Footer Placeholder 5">
            <a:extLst>
              <a:ext uri="{FF2B5EF4-FFF2-40B4-BE49-F238E27FC236}">
                <a16:creationId xmlns:a16="http://schemas.microsoft.com/office/drawing/2014/main"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431EAEC-BCE3-2979-69C6-273309B9FFA7}"/>
              </a:ext>
            </a:extLst>
          </p:cNvPr>
          <p:cNvSpPr>
            <a:spLocks noGrp="1"/>
          </p:cNvSpPr>
          <p:nvPr>
            <p:ph type="sldNum" sz="quarter" idx="12"/>
          </p:nvPr>
        </p:nvSpPr>
        <p:spPr/>
        <p:txBody>
          <a:bodyPr/>
          <a:lstStyle/>
          <a:p>
            <a:fld id="{65201FD4-9D8D-4491-815B-63C7BF4F0034}" type="slidenum">
              <a:rPr lang="en-IN" smtClean="0"/>
              <a:t>9</a:t>
            </a:fld>
            <a:endParaRPr lang="en-IN"/>
          </a:p>
        </p:txBody>
      </p:sp>
      <p:sp>
        <p:nvSpPr>
          <p:cNvPr id="2" name="Rectangle 1">
            <a:extLst>
              <a:ext uri="{FF2B5EF4-FFF2-40B4-BE49-F238E27FC236}">
                <a16:creationId xmlns:a16="http://schemas.microsoft.com/office/drawing/2014/main" id="{1F1B343F-0591-DA93-09CC-A5F01C257941}"/>
              </a:ext>
            </a:extLst>
          </p:cNvPr>
          <p:cNvSpPr>
            <a:spLocks noChangeArrowheads="1"/>
          </p:cNvSpPr>
          <p:nvPr/>
        </p:nvSpPr>
        <p:spPr bwMode="auto">
          <a:xfrm>
            <a:off x="720678" y="1775519"/>
            <a:ext cx="1025517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Anonymous, "Recovering Clinical Utility Under Differential Privacy: Empirical Validation of Adaptive Federated Aggregation on Heterogeneous Cardiovascular Datasets," </a:t>
            </a:r>
            <a:r>
              <a:rPr kumimoji="0" lang="en-US" altLang="en-US" sz="18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Journal of Healthcare Informatics</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2026.</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 A. Author et al., "Federated continual learning: A comprehensive survey on lifelong and privacy-preserving learning over distributed and non-stationary data," </a:t>
            </a:r>
            <a:r>
              <a:rPr kumimoji="0" lang="en-US" altLang="en-US" sz="18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IEEE Transactions on Neural Networks and Learning Systems</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2026.</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 B. Author et al., "Privacy-Preserving Decentralized Federated Learning via Explainable Adaptive Differential Privacy," </a:t>
            </a:r>
            <a:r>
              <a:rPr kumimoji="0" lang="en-US" altLang="en-US" sz="18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IEEE Transactions on Information Forensics and Security</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2025.</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 C. Author et al., "Membership Inference Attacks and Defenses in Federated Learning: A Survey," </a:t>
            </a:r>
            <a:r>
              <a:rPr kumimoji="0" lang="en-US" altLang="en-US" sz="18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ACM Computing Surveys</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2024.</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 D. Author et al., "Addressing Data Heterogeneity in Federated Learning of Cox Proportional Hazards Models," </a:t>
            </a:r>
            <a:r>
              <a:rPr kumimoji="0" lang="en-US" altLang="en-US" sz="18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IEEE Journal of Biomedical and Health Informatics</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2024.</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0526248"/>
      </p:ext>
    </p:extLst>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Archway</Template>
  <TotalTime>561</TotalTime>
  <Words>1166</Words>
  <Application>Microsoft Office PowerPoint</Application>
  <PresentationFormat>Widescreen</PresentationFormat>
  <Paragraphs>119</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Felix Titling</vt:lpstr>
      <vt:lpstr>Goudy Old Style</vt:lpstr>
      <vt:lpstr>Times New Roman</vt:lpstr>
      <vt:lpstr>Archway</vt:lpstr>
      <vt:lpstr>Programme B.Tech  BCSE497J – Project I Training Shared Diagnostic Models On Distributed Hospital Data Without Data Exposure</vt:lpstr>
      <vt:lpstr>Aim</vt:lpstr>
      <vt:lpstr>Abstract</vt:lpstr>
      <vt:lpstr>Literature Review</vt:lpstr>
      <vt:lpstr>Literature Review</vt:lpstr>
      <vt:lpstr>Research Gap</vt:lpstr>
      <vt:lpstr>Objectives</vt:lpstr>
      <vt:lpstr>Identified SDGs, TRL, Outcomes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Parthasarathy G</dc:creator>
  <cp:lastModifiedBy>Vaibhav Mehta</cp:lastModifiedBy>
  <cp:revision>10</cp:revision>
  <dcterms:created xsi:type="dcterms:W3CDTF">2026-07-14T06:00:41Z</dcterms:created>
  <dcterms:modified xsi:type="dcterms:W3CDTF">2026-07-29T06:28:06Z</dcterms:modified>
</cp:coreProperties>
</file>